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4" r:id="rId10"/>
    <p:sldId id="271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2567"/>
            <a:ext cx="7772400" cy="1470025"/>
          </a:xfrm>
        </p:spPr>
        <p:txBody>
          <a:bodyPr/>
          <a:lstStyle/>
          <a:p>
            <a:r>
              <a:rPr b="1" dirty="0">
                <a:solidFill>
                  <a:srgbClr val="002060"/>
                </a:solidFill>
              </a:rPr>
              <a:t>Deep Learning for HIV-1 Subtype Classification</a:t>
            </a:r>
            <a:r>
              <a:rPr lang="en-GB" b="1" dirty="0">
                <a:solidFill>
                  <a:srgbClr val="002060"/>
                </a:solidFill>
              </a:rPr>
              <a:t> using Pol gene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8839"/>
            <a:ext cx="6400800" cy="2639961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chemeClr val="tx1"/>
                </a:solidFill>
              </a:rPr>
              <a:t>MSB7216: Deep Learning for Health Data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Jovita Nagawa</a:t>
            </a:r>
          </a:p>
          <a:p>
            <a:r>
              <a:rPr lang="en-GB" dirty="0">
                <a:solidFill>
                  <a:schemeClr val="tx1"/>
                </a:solidFill>
              </a:rPr>
              <a:t>2025/HD07/26007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rPr lang="en-GB" dirty="0"/>
              <a:t>Background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92445"/>
          </a:xfrm>
        </p:spPr>
        <p:txBody>
          <a:bodyPr>
            <a:noAutofit/>
          </a:bodyPr>
          <a:lstStyle/>
          <a:p>
            <a:pPr>
              <a:lnSpc>
                <a:spcPct val="13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sz="1800" dirty="0"/>
              <a:t>HIV-1 subtyping is essential for guiding antiretroviral therapy and tracking epidemiological spread.</a:t>
            </a:r>
          </a:p>
          <a:p>
            <a:pPr>
              <a:lnSpc>
                <a:spcPct val="13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sz="1800" dirty="0"/>
              <a:t>Existing tools heavily rely on computationally expensive Multiple Sequence Alignment (MSA) or k-</a:t>
            </a:r>
            <a:r>
              <a:rPr sz="1800" dirty="0" err="1"/>
              <a:t>mer</a:t>
            </a:r>
            <a:r>
              <a:rPr sz="1800" dirty="0"/>
              <a:t> counting.</a:t>
            </a:r>
          </a:p>
          <a:p>
            <a:pPr>
              <a:lnSpc>
                <a:spcPct val="13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sz="1800" dirty="0"/>
              <a:t>MSA struggles with hypermutations, and genomic databases </a:t>
            </a:r>
            <a:r>
              <a:rPr lang="en-GB" sz="1800" dirty="0"/>
              <a:t>and is computationally expensive</a:t>
            </a:r>
          </a:p>
          <a:p>
            <a:pPr>
              <a:lnSpc>
                <a:spcPct val="13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sz="1800" b="1" dirty="0"/>
              <a:t>Objective: </a:t>
            </a:r>
            <a:r>
              <a:rPr sz="1800" dirty="0"/>
              <a:t>To develop an automated, alignment-free Deep Learning classifier to categorize raw nucleotide sequences into Subtypes A, B, C, and D.</a:t>
            </a:r>
            <a:endParaRPr lang="en-GB" sz="1800" dirty="0"/>
          </a:p>
          <a:p>
            <a:pPr>
              <a:lnSpc>
                <a:spcPct val="13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sz="1800" dirty="0"/>
              <a:t>Eliminating the MSA bottleneck enables faster, more scalable, and highly accurate subtyping for clinical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rPr dirty="0"/>
              <a:t>Data</a:t>
            </a:r>
            <a:r>
              <a:rPr lang="en-GB" dirty="0"/>
              <a:t>set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dirty="0"/>
              <a:t>Data was acquired by parsing 9,270 HIV-1 pol gene accessions utilized in the </a:t>
            </a:r>
            <a:r>
              <a:rPr dirty="0" err="1"/>
              <a:t>Kameris</a:t>
            </a:r>
            <a:r>
              <a:rPr dirty="0"/>
              <a:t> et al. experiment.</a:t>
            </a:r>
            <a:endParaRPr lang="en-GB" dirty="0"/>
          </a:p>
          <a:p>
            <a:pPr>
              <a:lnSpc>
                <a:spcPct val="11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dirty="0"/>
              <a:t>A JSON file was pulled from the </a:t>
            </a:r>
            <a:r>
              <a:rPr dirty="0" err="1"/>
              <a:t>Kameris</a:t>
            </a:r>
            <a:r>
              <a:rPr dirty="0"/>
              <a:t> GitHub repository to extract specific LANL sequence IDs.</a:t>
            </a:r>
            <a:endParaRPr lang="en-GB" dirty="0"/>
          </a:p>
          <a:p>
            <a:pPr>
              <a:lnSpc>
                <a:spcPct val="11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dirty="0"/>
              <a:t>These IDs were fed into the LANL HIV Sequence Database to batch download the raw FASTA sequences.</a:t>
            </a:r>
            <a:endParaRPr lang="en-GB" dirty="0"/>
          </a:p>
          <a:p>
            <a:pPr>
              <a:lnSpc>
                <a:spcPct val="11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dirty="0"/>
              <a:t>Sequences were then strictly filtered to our 4 target classes: Subtypes A, B, C, and D.</a:t>
            </a:r>
            <a:endParaRPr lang="en-GB" dirty="0"/>
          </a:p>
          <a:p>
            <a:pPr>
              <a:lnSpc>
                <a:spcPct val="114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dirty="0"/>
              <a:t>Severe Bias: Subtype B heavily dominates the final dataset (52.2%).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Methodology: Processing &amp;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7794"/>
            <a:ext cx="8229600" cy="4238369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Gap Stripping: Alignment gaps ('-') completely removed.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 Padding: Unaligned sequences padded/truncated to uniform 3000bp.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One-Hot Encoding: Matrix [L x 4] for spatial models (CNN, MLP).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Label Embedding: Integer mapping for sequential models (</a:t>
            </a:r>
            <a:r>
              <a:rPr sz="2000" dirty="0" err="1"/>
              <a:t>BiLSTM</a:t>
            </a:r>
            <a:r>
              <a:rPr sz="2000" dirty="0"/>
              <a:t>).</a:t>
            </a:r>
          </a:p>
        </p:txBody>
      </p:sp>
      <p:pic>
        <p:nvPicPr>
          <p:cNvPr id="5" name="Picture 4" descr="sequence_l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6" y="4334279"/>
            <a:ext cx="4114800" cy="2249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D4CC0-A626-0AEF-55E1-22468A09D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722" y="4374176"/>
            <a:ext cx="3542532" cy="1934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rPr dirty="0"/>
              <a:t>Data Splitting &amp; Class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dirty="0"/>
              <a:t> </a:t>
            </a:r>
            <a:r>
              <a:rPr sz="2000" dirty="0"/>
              <a:t>Stratified Split: Data divided into 70% Train, 15% Val, and 15% Test.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Class Imbalance: Subtype B severely dominates the data (&gt;52%).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Standard cross-entropy caused precision collapse in minority classes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Solution: Pure Focal Loss (Gamma=2.0) applied natively in </a:t>
            </a:r>
            <a:r>
              <a:rPr sz="2000" dirty="0" err="1"/>
              <a:t>PyTorch</a:t>
            </a:r>
            <a:r>
              <a:rPr sz="2000" dirty="0"/>
              <a:t>.</a:t>
            </a:r>
            <a:endParaRPr lang="en-GB" sz="2000" dirty="0"/>
          </a:p>
          <a:p>
            <a:pPr>
              <a:lnSpc>
                <a:spcPct val="114000"/>
              </a:lnSpc>
              <a:spcBef>
                <a:spcPts val="1200"/>
              </a:spcBef>
              <a:defRPr sz="1600"/>
            </a:pPr>
            <a:r>
              <a:rPr sz="2000" dirty="0"/>
              <a:t>Forces gradient to focus on hard-to-predict minority strains (A, C, D).</a:t>
            </a:r>
          </a:p>
        </p:txBody>
      </p:sp>
      <p:pic>
        <p:nvPicPr>
          <p:cNvPr id="4" name="Picture 3" descr="sub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246" y="4322416"/>
            <a:ext cx="6119599" cy="2364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rPr lang="en-GB" dirty="0"/>
              <a:t>Experiments</a:t>
            </a:r>
            <a:r>
              <a:rPr dirty="0"/>
              <a:t>: </a:t>
            </a:r>
            <a:r>
              <a:rPr lang="en-GB" dirty="0"/>
              <a:t>Models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F40A9-BF4C-FD2E-7B60-90FD81292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3" y="1622323"/>
            <a:ext cx="8254699" cy="4853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>
            <a:normAutofit/>
          </a:bodyPr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7290"/>
            <a:ext cx="8229600" cy="4208873"/>
          </a:xfrm>
        </p:spPr>
        <p:txBody>
          <a:bodyPr>
            <a:normAutofit/>
          </a:bodyPr>
          <a:lstStyle/>
          <a:p>
            <a:pPr marL="0" indent="0">
              <a:lnSpc>
                <a:spcPct val="114000"/>
              </a:lnSpc>
              <a:spcBef>
                <a:spcPts val="1800"/>
              </a:spcBef>
              <a:buNone/>
              <a:defRPr sz="1800">
                <a:latin typeface="Segoe UI"/>
              </a:defRPr>
            </a:pPr>
            <a:r>
              <a:rPr lang="en-GB" b="1" dirty="0"/>
              <a:t>Transfer Learning</a:t>
            </a:r>
          </a:p>
          <a:p>
            <a:pPr>
              <a:lnSpc>
                <a:spcPct val="114000"/>
              </a:lnSpc>
              <a:spcBef>
                <a:spcPts val="1800"/>
              </a:spcBef>
              <a:defRPr sz="1800">
                <a:latin typeface="Segoe UI"/>
              </a:defRPr>
            </a:pPr>
            <a:r>
              <a:rPr sz="1800" dirty="0"/>
              <a:t>DNABERT</a:t>
            </a:r>
            <a:r>
              <a:rPr lang="en-GB" sz="1800" dirty="0"/>
              <a:t>, p</a:t>
            </a:r>
            <a:r>
              <a:rPr sz="1800" dirty="0"/>
              <a:t>re-trained on the human genome via Masked Language Modeling.</a:t>
            </a:r>
          </a:p>
          <a:p>
            <a:pPr marL="0" indent="0">
              <a:lnSpc>
                <a:spcPct val="114000"/>
              </a:lnSpc>
              <a:spcBef>
                <a:spcPts val="1800"/>
              </a:spcBef>
              <a:buNone/>
              <a:defRPr sz="1800">
                <a:latin typeface="Segoe UI"/>
              </a:defRPr>
            </a:pPr>
            <a:r>
              <a:rPr sz="1800" dirty="0"/>
              <a:t>• Classification head fine-tuned to test cross-domain transfer learning to viral genomes.</a:t>
            </a:r>
            <a:endParaRPr lang="en-GB" sz="1800" dirty="0"/>
          </a:p>
          <a:p>
            <a:pPr marL="0" indent="0">
              <a:lnSpc>
                <a:spcPct val="114000"/>
              </a:lnSpc>
              <a:spcBef>
                <a:spcPts val="1800"/>
              </a:spcBef>
              <a:buNone/>
              <a:defRPr sz="1800">
                <a:latin typeface="Segoe UI"/>
              </a:defRPr>
            </a:pPr>
            <a:r>
              <a:rPr lang="en-GB" sz="1800" b="1" dirty="0"/>
              <a:t>Explainability</a:t>
            </a:r>
          </a:p>
          <a:p>
            <a:pPr marL="0" indent="0">
              <a:lnSpc>
                <a:spcPct val="114000"/>
              </a:lnSpc>
              <a:spcBef>
                <a:spcPts val="1800"/>
              </a:spcBef>
              <a:buNone/>
              <a:defRPr sz="1800">
                <a:latin typeface="Segoe UI"/>
              </a:defRPr>
            </a:pPr>
            <a:r>
              <a:rPr lang="en-US" sz="1800" dirty="0"/>
              <a:t>• Universal Saliency Map using Input-Gradient Attention.</a:t>
            </a:r>
          </a:p>
          <a:p>
            <a:pPr marL="0" indent="0">
              <a:lnSpc>
                <a:spcPct val="114000"/>
              </a:lnSpc>
              <a:spcBef>
                <a:spcPts val="1800"/>
              </a:spcBef>
              <a:buNone/>
              <a:defRPr sz="1800">
                <a:latin typeface="Segoe UI"/>
              </a:defRPr>
            </a:pPr>
            <a:r>
              <a:rPr lang="en-US" sz="1800" dirty="0"/>
              <a:t>• Highlights the exact nucleotide regions driving the </a:t>
            </a:r>
            <a:r>
              <a:rPr lang="en-US" sz="1800" dirty="0" err="1"/>
              <a:t>BiLSTM's</a:t>
            </a:r>
            <a:r>
              <a:rPr lang="en-US" sz="1800" dirty="0"/>
              <a:t> classifications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21561-33BD-38DC-D81C-324A5FA9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7D7F-B2F3-FA8D-B8DC-75F1506935A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>
            <a:normAutofit/>
          </a:bodyPr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rPr dirty="0"/>
              <a:t>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0731CE-C985-078D-6CC3-BC2DBCAFF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1714422"/>
            <a:ext cx="7772336" cy="3196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530E9C-2508-A9D9-490A-4B2097745479}"/>
              </a:ext>
            </a:extLst>
          </p:cNvPr>
          <p:cNvSpPr txBox="1"/>
          <p:nvPr/>
        </p:nvSpPr>
        <p:spPr>
          <a:xfrm>
            <a:off x="526026" y="5207451"/>
            <a:ext cx="8229600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>
                <a:latin typeface="Segoe UI"/>
              </a:defRPr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Saliency Maps show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BiLSTMs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rely on conserved regions. When 'viral drift' mutates these domains, confidence drops.</a:t>
            </a:r>
          </a:p>
        </p:txBody>
      </p:sp>
    </p:spTree>
    <p:extLst>
      <p:ext uri="{BB962C8B-B14F-4D97-AF65-F5344CB8AC3E}">
        <p14:creationId xmlns:p14="http://schemas.microsoft.com/office/powerpoint/2010/main" val="417785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Results: 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847882"/>
              </p:ext>
            </p:extLst>
          </p:nvPr>
        </p:nvGraphicFramePr>
        <p:xfrm>
          <a:off x="457200" y="1651819"/>
          <a:ext cx="7998540" cy="4552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9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1809">
                <a:tc>
                  <a:txBody>
                    <a:bodyPr/>
                    <a:lstStyle/>
                    <a:p>
                      <a:r>
                        <a:rPr sz="20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Macro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Macro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809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Baseline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24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0.1715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24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chemeClr val="tx1"/>
                          </a:solidFill>
                        </a:rPr>
                        <a:t>BiLSTM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0.9473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0.6541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24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chemeClr val="tx1"/>
                          </a:solidFill>
                        </a:rPr>
                        <a:t>DNABERT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0.1715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AADF-116E-47F1-C3EE-0CC66FB0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6CEC-5FEF-4921-C008-BABDE7F810A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Results: Confusion Matrices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7F37B-EC82-8404-4003-4AB0F909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39" y="1417638"/>
            <a:ext cx="6120764" cy="2478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A0DD2-D0A1-F086-EB6D-8DEEC10F0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301" y="3881705"/>
            <a:ext cx="5832402" cy="27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8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65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lang="en-GB" sz="2000" dirty="0"/>
              <a:t>Even the best model did not classify a single class with 100% accuracy.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lang="en-GB" sz="2000" dirty="0"/>
              <a:t>Thus need to fine tune it and check whether retraining it on balanced dataset would be better.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F0A99-B6DE-6DF7-88FA-106FF7B3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567" y="3693600"/>
            <a:ext cx="50768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Limitations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r>
              <a:rPr dirty="0"/>
              <a:t>1. </a:t>
            </a:r>
            <a:r>
              <a:rPr sz="2000" dirty="0"/>
              <a:t>Extreme Geographical Imbalance: Hard for spatial models (CNN) to overcome.</a:t>
            </a:r>
            <a:endParaRPr lang="en-GB" sz="2000" dirty="0"/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r>
              <a:rPr sz="2000" dirty="0"/>
              <a:t>2. Computational Limits: VRAM restricted DNABERT's ability to learn 3000bp sequences.</a:t>
            </a:r>
            <a:endParaRPr lang="en-GB" sz="2000" dirty="0"/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r>
              <a:rPr sz="2000" dirty="0"/>
              <a:t>3. Domain Gap</a:t>
            </a:r>
            <a:r>
              <a:rPr lang="en-GB" sz="2000" dirty="0"/>
              <a:t> with transfer learning</a:t>
            </a:r>
            <a:r>
              <a:rPr sz="2000" dirty="0"/>
              <a:t>: Human genome pre-training doesn't translate perfectly to viruses.</a:t>
            </a:r>
            <a:endParaRPr lang="en-GB" sz="2000" dirty="0"/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r>
              <a:rPr lang="en-GB" sz="2000" dirty="0"/>
              <a:t>4. Compute constraints</a:t>
            </a: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endParaRPr lang="en-GB" sz="2000" dirty="0"/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r>
              <a:rPr sz="2000" dirty="0"/>
              <a:t>Alignment-free Deep Learning (</a:t>
            </a:r>
            <a:r>
              <a:rPr sz="2000" dirty="0" err="1"/>
              <a:t>BiLSTM</a:t>
            </a:r>
            <a:r>
              <a:rPr sz="2000" dirty="0"/>
              <a:t>) handles viral genomic imbalances far better than CNNs, achieving 94.73% accuracy.</a:t>
            </a:r>
            <a:endParaRPr lang="en-GB" sz="2000" dirty="0"/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  <a:defRPr sz="1800">
                <a:latin typeface="Segoe UI"/>
              </a:defRPr>
            </a:pPr>
            <a:r>
              <a:rPr sz="2000" b="1" dirty="0"/>
              <a:t>Future Work</a:t>
            </a:r>
            <a:endParaRPr lang="en-GB" sz="2000" b="1" dirty="0"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lang="en-GB" sz="2000" dirty="0"/>
              <a:t>Resample data to balance classes and retrain model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lang="en-GB" sz="2000" dirty="0"/>
              <a:t>Finetune CNN  to check for any possible better performance</a:t>
            </a:r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latin typeface="Segoe UI"/>
              </a:defRPr>
            </a:pPr>
            <a:r>
              <a:rPr sz="2000" dirty="0"/>
              <a:t>Expand to Circulating Recombinant Forms (CRFs) and</a:t>
            </a:r>
            <a:r>
              <a:rPr lang="en-GB" sz="2000" dirty="0"/>
              <a:t> other subtypes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581</Words>
  <Application>Microsoft Office PowerPoint</Application>
  <PresentationFormat>On-screen Show (4:3)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Deep Learning for HIV-1 Subtype Classification using Pol gene</vt:lpstr>
      <vt:lpstr>Background</vt:lpstr>
      <vt:lpstr>Dataset</vt:lpstr>
      <vt:lpstr>Methodology: Processing &amp; Encoding</vt:lpstr>
      <vt:lpstr>Data Splitting &amp; Class Balancing</vt:lpstr>
      <vt:lpstr>Experiments: Models</vt:lpstr>
      <vt:lpstr>Methodology</vt:lpstr>
      <vt:lpstr>Methodology</vt:lpstr>
      <vt:lpstr>Results: Model Comparison</vt:lpstr>
      <vt:lpstr>Results: Confusion Matrices</vt:lpstr>
      <vt:lpstr>Error Analysis</vt:lpstr>
      <vt:lpstr>Limitations &amp; Challenges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Jovita Nagawa</dc:creator>
  <cp:keywords/>
  <dc:description>generated using python-pptx</dc:description>
  <cp:lastModifiedBy>Jovita Nagawa</cp:lastModifiedBy>
  <cp:revision>3</cp:revision>
  <dcterms:created xsi:type="dcterms:W3CDTF">2013-01-27T09:14:16Z</dcterms:created>
  <dcterms:modified xsi:type="dcterms:W3CDTF">2026-05-30T12:04:35Z</dcterms:modified>
  <cp:category/>
</cp:coreProperties>
</file>