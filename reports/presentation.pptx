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>
                <a:solidFill>
                  <a:srgbClr val="14325A"/>
                </a:solidFill>
                <a:latin typeface="Segoe UI"/>
              </a:defRPr>
            </a:pPr>
            <a:r>
              <a:t>Deep Learning for HIV-1 Subtype Classification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>
                <a:solidFill>
                  <a:srgbClr val="505050"/>
                </a:solidFill>
                <a:latin typeface="Segoe UI"/>
              </a:defRPr>
            </a:pPr>
            <a:r>
              <a:t>A BiLSTM and Focal Loss Approach on unaligned pol Gene Sequences</a:t>
            </a:r>
          </a:p>
          <a:p>
            <a:pPr>
              <a:defRPr>
                <a:solidFill>
                  <a:srgbClr val="505050"/>
                </a:solidFill>
                <a:latin typeface="Segoe UI"/>
              </a:defRPr>
            </a:pPr>
            <a:r>
              <a:t>MSB7216: Deep Learning for Health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14325A"/>
          </a:solidFill>
        </p:spPr>
        <p:txBody>
          <a:bodyPr/>
          <a:lstStyle/>
          <a:p>
            <a:pPr>
              <a:defRPr b="1">
                <a:solidFill>
                  <a:srgbClr val="FFFFFF"/>
                </a:solidFill>
                <a:latin typeface="Segoe UI"/>
              </a:defRPr>
            </a:pPr>
            <a:r>
              <a:t>Abstract &amp;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Segoe UI"/>
              </a:defRPr>
            </a:pPr>
            <a:r>
              <a:t>• Background: HIV-1 subtyping is essential for guiding antiretroviral therapy and tracking epidemiological spread.</a:t>
            </a:r>
          </a:p>
          <a:p>
            <a:pPr>
              <a:defRPr sz="1800">
                <a:latin typeface="Segoe UI"/>
              </a:defRPr>
            </a:pPr>
            <a:r>
              <a:t>• Previous Work: Existing tools heavily rely on computationally expensive Multiple Sequence Alignment (MSA) or k-mer counting.</a:t>
            </a:r>
          </a:p>
          <a:p>
            <a:pPr>
              <a:defRPr sz="1800">
                <a:latin typeface="Segoe UI"/>
              </a:defRPr>
            </a:pPr>
            <a:r>
              <a:t>• Problem Statement: MSA struggles with hypermutations, and genomic databases suffer from severe geographical class imbalance.</a:t>
            </a:r>
          </a:p>
          <a:p>
            <a:pPr>
              <a:defRPr sz="1800">
                <a:latin typeface="Segoe UI"/>
              </a:defRPr>
            </a:pPr>
            <a:r>
              <a:t>• Objective: To develop an automated, alignment-free Deep Learning classifier to categorize raw nucleotide sequences into Subtypes A, B, C, and D.</a:t>
            </a:r>
          </a:p>
          <a:p>
            <a:pPr>
              <a:defRPr sz="1800">
                <a:latin typeface="Segoe UI"/>
              </a:defRPr>
            </a:pPr>
            <a:r>
              <a:t>• Significance: Eliminating the MSA bottleneck enables faster, more scalable, and highly accurate subtyping for clinical deployment.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14325A"/>
          </a:solidFill>
        </p:spPr>
        <p:txBody>
          <a:bodyPr/>
          <a:lstStyle/>
          <a:p>
            <a:pPr>
              <a:defRPr b="1">
                <a:solidFill>
                  <a:srgbClr val="FFFFFF"/>
                </a:solidFill>
                <a:latin typeface="Segoe UI"/>
              </a:defRPr>
            </a:pPr>
            <a:r>
              <a:t>Data Acquisition (Kameris Experiment)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Segoe UI"/>
              </a:defRPr>
            </a:pPr>
            <a:r>
              <a:t>• Data was acquired by parsing 9,270 HIV-1 pol gene accessions utilized in the Kameris et al. experiment.</a:t>
            </a:r>
          </a:p>
          <a:p>
            <a:pPr>
              <a:defRPr sz="1800">
                <a:latin typeface="Segoe UI"/>
              </a:defRPr>
            </a:pPr>
            <a:r>
              <a:t>• A JSON file was pulled from the Kameris GitHub repository to extract specific LANL sequence IDs.</a:t>
            </a:r>
          </a:p>
          <a:p>
            <a:pPr>
              <a:defRPr sz="1800">
                <a:latin typeface="Segoe UI"/>
              </a:defRPr>
            </a:pPr>
            <a:r>
              <a:t>• These IDs were fed into the LANL HIV Sequence Database to batch download the raw FASTA sequences.</a:t>
            </a:r>
          </a:p>
          <a:p>
            <a:pPr>
              <a:defRPr sz="1800">
                <a:latin typeface="Segoe UI"/>
              </a:defRPr>
            </a:pPr>
            <a:r>
              <a:t>• Sequences were then strictly filtered to our 4 target classes: Subtypes A, B, C, and D.</a:t>
            </a:r>
          </a:p>
          <a:p>
            <a:pPr>
              <a:defRPr sz="1800">
                <a:latin typeface="Segoe UI"/>
              </a:defRPr>
            </a:pPr>
            <a:r>
              <a:t>• Severe Bias: Subtype B heavily dominates the final dataset (52.2%).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14325A"/>
          </a:solidFill>
        </p:spPr>
        <p:txBody>
          <a:bodyPr/>
          <a:lstStyle/>
          <a:p>
            <a:pPr>
              <a:defRPr b="1">
                <a:solidFill>
                  <a:srgbClr val="FFFFFF"/>
                </a:solidFill>
                <a:latin typeface="Segoe UI"/>
              </a:defRPr>
            </a:pPr>
            <a:r>
              <a:t>Methodology: Processing &amp; Encoding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• Gap Stripping: Alignment gaps ('-') completely removed.</a:t>
            </a:r>
          </a:p>
          <a:p>
            <a:pPr>
              <a:defRPr sz="1600"/>
            </a:pPr>
            <a:r>
              <a:t>• Padding: Unaligned sequences padded/truncated to uniform 3000bp.</a:t>
            </a:r>
          </a:p>
          <a:p>
            <a:pPr>
              <a:defRPr sz="1600"/>
            </a:pPr>
            <a:r>
              <a:t>• One-Hot Encoding: Matrix [L x 4] for spatial models (CNN, MLP).</a:t>
            </a:r>
          </a:p>
          <a:p>
            <a:pPr>
              <a:defRPr sz="1600"/>
            </a:pPr>
            <a:r>
              <a:t>• Label Embedding: Integer mapping for sequential models (BiLSTM).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743200"/>
          <a:ext cx="41148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Raw Sequence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Cleaned Sequence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Integer Encoding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A-T-C--G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ATCG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[1, 4, 2, 3]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T--C-A-N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TCAN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[4, 2, 1, 0]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sequence_lengt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828800"/>
            <a:ext cx="4114800" cy="224908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14325A"/>
          </a:solidFill>
        </p:spPr>
        <p:txBody>
          <a:bodyPr/>
          <a:lstStyle/>
          <a:p>
            <a:pPr>
              <a:defRPr b="1">
                <a:solidFill>
                  <a:srgbClr val="FFFFFF"/>
                </a:solidFill>
                <a:latin typeface="Segoe UI"/>
              </a:defRPr>
            </a:pPr>
            <a:r>
              <a:t>Methodology: Data Splitting &amp; Class Balancing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• Stratified Split: Data divided into 70% Train, 15% Val, and 15% Test.</a:t>
            </a:r>
          </a:p>
          <a:p>
            <a:pPr>
              <a:defRPr sz="1600"/>
            </a:pPr>
            <a:r>
              <a:t>• Class Imbalance: Subtype B severely dominates the data (&gt;52%).</a:t>
            </a:r>
          </a:p>
          <a:p>
            <a:pPr>
              <a:defRPr sz="1600"/>
            </a:pPr>
            <a:r>
              <a:t>• Standard cross-entropy caused precision collapse in minority classes.</a:t>
            </a:r>
          </a:p>
          <a:p>
            <a:pPr>
              <a:defRPr sz="1600"/>
            </a:pPr>
            <a:r>
              <a:t>• Solution: Pure Focal Loss (Gamma=2.0) applied natively in PyTorch.</a:t>
            </a:r>
          </a:p>
          <a:p>
            <a:pPr>
              <a:defRPr sz="1600"/>
            </a:pPr>
            <a:r>
              <a:t>• Forces gradient to focus on hard-to-predict minority strains (A, C, D).</a:t>
            </a:r>
          </a:p>
        </p:txBody>
      </p:sp>
      <p:pic>
        <p:nvPicPr>
          <p:cNvPr id="4" name="Picture 3" descr="subtyp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200400"/>
            <a:ext cx="4114800" cy="15899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14325A"/>
          </a:solidFill>
        </p:spPr>
        <p:txBody>
          <a:bodyPr/>
          <a:lstStyle/>
          <a:p>
            <a:pPr>
              <a:defRPr b="1">
                <a:solidFill>
                  <a:srgbClr val="FFFFFF"/>
                </a:solidFill>
                <a:latin typeface="Segoe UI"/>
              </a:defRPr>
            </a:pPr>
            <a:r>
              <a:t>Methodology: Architectures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Segoe UI"/>
              </a:defRPr>
            </a:pPr>
            <a:r>
              <a:t>• 1. Baseline MLP (73.8k Params): GlobalAvgPool -&gt; Dense(16) -&gt; Classifier.</a:t>
            </a:r>
          </a:p>
          <a:p>
            <a:pPr>
              <a:defRPr sz="1800">
                <a:latin typeface="Segoe UI"/>
              </a:defRPr>
            </a:pPr>
            <a:r>
              <a:t>• 2. 1D-CNN (200k Params): 4 Conv1D layers (filters: 32 to 128) alternating with MaxPool &amp; Dropout (0.5).</a:t>
            </a:r>
          </a:p>
          <a:p>
            <a:pPr>
              <a:defRPr sz="1800">
                <a:latin typeface="Segoe UI"/>
              </a:defRPr>
            </a:pPr>
            <a:r>
              <a:t>• 3. BiLSTM (2.1M Params): 128-dim Embedding -&gt; 2-layer Bidirectional LSTM (256 hidden) -&gt; Dense(128).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14325A"/>
          </a:solidFill>
        </p:spPr>
        <p:txBody>
          <a:bodyPr/>
          <a:lstStyle/>
          <a:p>
            <a:pPr>
              <a:defRPr b="1">
                <a:solidFill>
                  <a:srgbClr val="FFFFFF"/>
                </a:solidFill>
                <a:latin typeface="Segoe UI"/>
              </a:defRPr>
            </a:pPr>
            <a:r>
              <a:t>Methodology: Transfer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Segoe UI"/>
              </a:defRPr>
            </a:pPr>
            <a:r>
              <a:t>• Exploratory phase utilizing DNABERT.</a:t>
            </a:r>
          </a:p>
          <a:p>
            <a:pPr>
              <a:defRPr sz="1800">
                <a:latin typeface="Segoe UI"/>
              </a:defRPr>
            </a:pPr>
            <a:r>
              <a:t>• Pre-trained on the human genome via Masked Language Modeling.</a:t>
            </a:r>
          </a:p>
          <a:p>
            <a:pPr>
              <a:defRPr sz="1800">
                <a:latin typeface="Segoe UI"/>
              </a:defRPr>
            </a:pPr>
            <a:r>
              <a:t>• Classification head fine-tuned to test cross-domain transfer learning to viral genomes.</a:t>
            </a:r>
          </a:p>
        </p:txBody>
      </p:sp>
      <p:pic>
        <p:nvPicPr>
          <p:cNvPr id="4" name="Picture 3" descr="dnabert_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1600"/>
            <a:ext cx="4572000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14325A"/>
          </a:solidFill>
        </p:spPr>
        <p:txBody>
          <a:bodyPr/>
          <a:lstStyle/>
          <a:p>
            <a:pPr>
              <a:defRPr b="1">
                <a:solidFill>
                  <a:srgbClr val="FFFFFF"/>
                </a:solidFill>
                <a:latin typeface="Segoe UI"/>
              </a:defRPr>
            </a:pPr>
            <a:r>
              <a:t>Methodology: Explainability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Segoe UI"/>
              </a:defRPr>
            </a:pPr>
            <a:r>
              <a:t>• Universal Saliency Map using Input-Gradient Attention.</a:t>
            </a:r>
          </a:p>
          <a:p>
            <a:pPr>
              <a:defRPr sz="1800">
                <a:latin typeface="Segoe UI"/>
              </a:defRPr>
            </a:pPr>
            <a:r>
              <a:t>• Highlights the exact nucleotide regions driving the BiLSTM's classifications.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14325A"/>
          </a:solidFill>
        </p:spPr>
        <p:txBody>
          <a:bodyPr/>
          <a:lstStyle/>
          <a:p>
            <a:pPr>
              <a:defRPr b="1">
                <a:solidFill>
                  <a:srgbClr val="FFFFFF"/>
                </a:solidFill>
                <a:latin typeface="Segoe UI"/>
              </a:defRPr>
            </a:pPr>
            <a:r>
              <a:t>Results: Model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Test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Macro 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Macro 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Macro F1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Baseline MLP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0.6527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0.7472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0.5114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1D-CNN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0.1715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BiLSTM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0.9473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0.6274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0.6982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0.6541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DNABERT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0.1715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14325A"/>
          </a:solidFill>
        </p:spPr>
        <p:txBody>
          <a:bodyPr/>
          <a:lstStyle/>
          <a:p>
            <a:pPr>
              <a:defRPr b="1">
                <a:solidFill>
                  <a:srgbClr val="FFFFFF"/>
                </a:solidFill>
                <a:latin typeface="Segoe UI"/>
              </a:defRPr>
            </a:pPr>
            <a:r>
              <a:t>Results: Confusion Matrices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Segoe UI"/>
              </a:defRPr>
            </a:pPr>
            <a:r>
              <a:t>• BiLSTM accurately maps minority classes.</a:t>
            </a:r>
          </a:p>
          <a:p>
            <a:pPr>
              <a:defRPr sz="1800">
                <a:latin typeface="Segoe UI"/>
              </a:defRPr>
            </a:pPr>
            <a:r>
              <a:t>• CNN and DNABERT collapsed entirely (52.22% Subtype B baseline).</a:t>
            </a:r>
          </a:p>
        </p:txBody>
      </p:sp>
      <p:pic>
        <p:nvPicPr>
          <p:cNvPr id="4" name="Picture 3" descr="all_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71600"/>
            <a:ext cx="5029200" cy="105278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14325A"/>
          </a:solidFill>
        </p:spPr>
        <p:txBody>
          <a:bodyPr/>
          <a:lstStyle/>
          <a:p>
            <a:pPr>
              <a:defRPr b="1">
                <a:solidFill>
                  <a:srgbClr val="FFFFFF"/>
                </a:solidFill>
                <a:latin typeface="Segoe UI"/>
              </a:defRPr>
            </a:pPr>
            <a:r>
              <a:t>Results: ROC Curves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Segoe UI"/>
              </a:defRPr>
            </a:pPr>
            <a:r>
              <a:t>• The Receiver Operating Characteristic confirms the BiLSTM's high true positive rate across all four classes.</a:t>
            </a:r>
          </a:p>
        </p:txBody>
      </p:sp>
      <p:pic>
        <p:nvPicPr>
          <p:cNvPr id="4" name="Picture 3" descr="best_model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1600"/>
            <a:ext cx="4572000" cy="36415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14325A"/>
          </a:solidFill>
        </p:spPr>
        <p:txBody>
          <a:bodyPr/>
          <a:lstStyle/>
          <a:p>
            <a:pPr>
              <a:defRPr b="1">
                <a:solidFill>
                  <a:srgbClr val="FFFFFF"/>
                </a:solidFill>
                <a:latin typeface="Segoe UI"/>
              </a:defRPr>
            </a:pPr>
            <a:r>
              <a:t>Error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Segoe UI"/>
              </a:defRPr>
            </a:pPr>
            <a:r>
              <a:t>• Causes: CNNs and DNABERT collapsed due to geographic imbalance.</a:t>
            </a:r>
          </a:p>
          <a:p>
            <a:pPr>
              <a:defRPr sz="1800">
                <a:latin typeface="Segoe UI"/>
              </a:defRPr>
            </a:pPr>
            <a:r>
              <a:t>• Implications: Saliency Maps show BiLSTMs rely on conserved regions. When 'viral drift' mutates these domains, confidence drops.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14325A"/>
          </a:solidFill>
        </p:spPr>
        <p:txBody>
          <a:bodyPr/>
          <a:lstStyle/>
          <a:p>
            <a:pPr>
              <a:defRPr b="1">
                <a:solidFill>
                  <a:srgbClr val="FFFFFF"/>
                </a:solidFill>
                <a:latin typeface="Segoe UI"/>
              </a:defRPr>
            </a:pPr>
            <a:r>
              <a:t>Limitations &amp;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Segoe UI"/>
              </a:defRPr>
            </a:pPr>
            <a:r>
              <a:t>• 1. Extreme Geographical Imbalance: Hard for spatial models (CNN) to overcome.</a:t>
            </a:r>
          </a:p>
          <a:p>
            <a:pPr>
              <a:defRPr sz="1800">
                <a:latin typeface="Segoe UI"/>
              </a:defRPr>
            </a:pPr>
            <a:r>
              <a:t>• 2. Computational Limits: VRAM restricted DNABERT's ability to learn 3000bp sequences.</a:t>
            </a:r>
          </a:p>
          <a:p>
            <a:pPr>
              <a:defRPr sz="1800">
                <a:latin typeface="Segoe UI"/>
              </a:defRPr>
            </a:pPr>
            <a:r>
              <a:t>• 3. Domain Gap: Human genome pre-training doesn't translate perfectly to viruses.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14325A"/>
          </a:solidFill>
        </p:spPr>
        <p:txBody>
          <a:bodyPr/>
          <a:lstStyle/>
          <a:p>
            <a:pPr>
              <a:defRPr b="1">
                <a:solidFill>
                  <a:srgbClr val="FFFFFF"/>
                </a:solidFill>
                <a:latin typeface="Segoe UI"/>
              </a:defRPr>
            </a:pPr>
            <a:r>
              <a:t>Deployment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Segoe UI"/>
              </a:defRPr>
            </a:pPr>
            <a:r>
              <a:t>• Decoupled production deployment module.</a:t>
            </a:r>
          </a:p>
          <a:p>
            <a:pPr>
              <a:defRPr sz="1800">
                <a:latin typeface="Segoe UI"/>
              </a:defRPr>
            </a:pPr>
            <a:r>
              <a:t>• Automatically loads the highest-performing architecture (BiLSTM).</a:t>
            </a:r>
          </a:p>
          <a:p>
            <a:pPr>
              <a:defRPr sz="1800">
                <a:latin typeface="Segoe UI"/>
              </a:defRPr>
            </a:pPr>
            <a:r>
              <a:t>• Ready for real-time FASTA inference.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14325A"/>
          </a:solidFill>
        </p:spPr>
        <p:txBody>
          <a:bodyPr/>
          <a:lstStyle/>
          <a:p>
            <a:pPr>
              <a:defRPr b="1">
                <a:solidFill>
                  <a:srgbClr val="FFFFFF"/>
                </a:solidFill>
                <a:latin typeface="Segoe UI"/>
              </a:defRPr>
            </a:pPr>
            <a:r>
              <a:t>Conclusion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Segoe UI"/>
              </a:defRPr>
            </a:pPr>
            <a:r>
              <a:t>• Conclusion: Alignment-free Deep Learning (BiLSTM) handles viral genomic imbalances far better than CNNs, achieving 94.73% accuracy.</a:t>
            </a:r>
          </a:p>
          <a:p>
            <a:pPr>
              <a:defRPr sz="1800">
                <a:latin typeface="Segoe UI"/>
              </a:defRPr>
            </a:pPr>
            <a:r>
              <a:t>• Future Work: Expand to Circulating Recombinant Forms (CRFs) and launch via FastAPI.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