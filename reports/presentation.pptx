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BiLSTM and Focal Loss Approach on unaligned pol Gene Sequences</a:t>
            </a:r>
          </a:p>
          <a:p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Background: HIV-1 subtyping is critical for tracking epidemiological spread and drug resistance.</a:t>
            </a:r>
          </a:p>
          <a:p>
            <a:pPr>
              <a:defRPr sz="2200"/>
            </a:pPr>
            <a:r>
              <a:t>Problem: Traditional alignment and k-mer methods struggle with hypermutations and computational cost.</a:t>
            </a:r>
          </a:p>
          <a:p>
            <a:pPr>
              <a:defRPr sz="2200"/>
            </a:pPr>
            <a:r>
              <a:t>Objective: Build an alignment-free Deep Learning pipeline for Subtypes A, B, C, D.</a:t>
            </a:r>
          </a:p>
          <a:p>
            <a:pPr>
              <a:defRPr sz="2200"/>
            </a:pPr>
            <a:r>
              <a:t>Methods: 1D-CNN and BiLSTM networks using Focal Loss to combat severe class imbalance.</a:t>
            </a:r>
          </a:p>
          <a:p>
            <a:pPr>
              <a:defRPr sz="2200"/>
            </a:pPr>
            <a:r>
              <a:t>Results: BiLSTM achieved 98%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/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The pol gene encodes targets for modern Antiretroviral Therapy (ART).</a:t>
            </a:r>
          </a:p>
          <a:p>
            <a:pPr>
              <a:defRPr sz="2200"/>
            </a:pPr>
            <a:r>
              <a:t>Subtype classification guides personalized medicine.</a:t>
            </a:r>
          </a:p>
          <a:p>
            <a:pPr>
              <a:defRPr sz="2200"/>
            </a:pPr>
            <a:r>
              <a:t>Traditional bioinformatics heavily rely on Multiple Sequence Alignment (MSA).</a:t>
            </a:r>
          </a:p>
          <a:p>
            <a:pPr>
              <a:defRPr sz="2200"/>
            </a:pPr>
            <a:r>
              <a:t>Our approach completely eliminates MSA, feeding raw nucleotide strings into the network.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Dataset &amp; The Imbalance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Data sourced from Los Alamos National Laboratory (LANL).</a:t>
            </a:r>
          </a:p>
          <a:p>
            <a:pPr>
              <a:defRPr sz="1600"/>
            </a:pPr>
            <a:r>
              <a:t>Severe Geographical Bias: Subtype B dominates North America &amp; Europe.</a:t>
            </a:r>
          </a:p>
          <a:p>
            <a:pPr>
              <a:defRPr sz="1600"/>
            </a:pPr>
            <a:r>
              <a:t>A severe class imbalance risks model collapse (predicting B for everything).</a:t>
            </a:r>
          </a:p>
        </p:txBody>
      </p:sp>
      <p:pic>
        <p:nvPicPr>
          <p:cNvPr id="4" name="Picture 3" descr="sub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7666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Processing &amp; Encoding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Alignment gaps ('-') completely stripped from all sequences.</a:t>
            </a:r>
          </a:p>
          <a:p>
            <a:pPr>
              <a:defRPr sz="2200"/>
            </a:pPr>
            <a:r>
              <a:t>Data was unified via padding/truncation for batched processing.</a:t>
            </a:r>
          </a:p>
          <a:p>
            <a:pPr>
              <a:defRPr sz="2200"/>
            </a:pPr>
            <a:r>
              <a:t>Two Encodings Used:</a:t>
            </a:r>
          </a:p>
          <a:p>
            <a:pPr>
              <a:defRPr sz="2200"/>
            </a:pPr>
            <a:r>
              <a:t>1. One-Hot Encoding: Used for MLP and 1D-CNN (4 spatial channels).</a:t>
            </a:r>
          </a:p>
          <a:p>
            <a:pPr>
              <a:defRPr sz="2200"/>
            </a:pPr>
            <a:r>
              <a:t>2. Label Embedding: Integers used for BiLSTM sequence inputs.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Initial static 'class_weights' severely degraded precision.</a:t>
            </a:r>
          </a:p>
          <a:p>
            <a:pPr>
              <a:defRPr sz="2200"/>
            </a:pPr>
            <a:r>
              <a:t>Solution: Pure Focal Loss (Gamma=2.0).</a:t>
            </a:r>
          </a:p>
          <a:p>
            <a:pPr>
              <a:defRPr sz="2200"/>
            </a:pPr>
            <a:r>
              <a:t>Dynamically down-weights easily classified majority sequences (Subtype B).</a:t>
            </a:r>
          </a:p>
          <a:p>
            <a:pPr>
              <a:defRPr sz="2200"/>
            </a:pPr>
            <a:r>
              <a:t>Forces the gradient to focus heavily on hard-to-predict minority strains (A, C, 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The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Baseline MLP: Global Average Pooling. Looked at total nucleotide composition.</a:t>
            </a:r>
          </a:p>
          <a:p>
            <a:pPr>
              <a:defRPr sz="2200"/>
            </a:pPr>
            <a:r>
              <a:t>1D-CNN: Convolutional filters extracting localized functional motifs (k-mers).</a:t>
            </a:r>
          </a:p>
          <a:p>
            <a:pPr>
              <a:defRPr sz="2200"/>
            </a:pPr>
            <a:r>
              <a:t>BiLSTM: Bidirectional recurrent sequence processing. Captures long-range epistatic dependencies across the genome.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Transfer Learning (DNABERT)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Exploratory phase utilizing DNABERT.</a:t>
            </a:r>
          </a:p>
          <a:p>
            <a:pPr>
              <a:defRPr sz="2200"/>
            </a:pPr>
            <a:r>
              <a:t>Transformer model pre-trained on the human genome via Masked Language Modeling.</a:t>
            </a:r>
          </a:p>
          <a:p>
            <a:pPr>
              <a:defRPr sz="2200"/>
            </a:pPr>
            <a:r>
              <a:t>Classification head fine-tuned to test cross-domain transfer learning to viral genomes.</a:t>
            </a:r>
          </a:p>
          <a:p>
            <a:pPr>
              <a:defRPr sz="2200"/>
            </a:pPr>
            <a:r>
              <a:t>Demonstrated the flexibility of the pipeline to handle Transformer architectures.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BiLSTM completely dominates across minority classes.</a:t>
            </a:r>
          </a:p>
          <a:p>
            <a:pPr>
              <a:defRPr sz="1600"/>
            </a:pPr>
            <a:r>
              <a:t>Focal Loss eliminated the Subtype B collapse.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9570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Explainability (Saliency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Ensured model wasn't relying on spurious correlations.</a:t>
            </a:r>
          </a:p>
          <a:p>
            <a:pPr>
              <a:defRPr sz="1600"/>
            </a:pPr>
            <a:r>
              <a:t>Universal Saliency Map using Input-Gradient Attention.</a:t>
            </a:r>
          </a:p>
          <a:p>
            <a:pPr>
              <a:defRPr sz="1600"/>
            </a:pPr>
            <a:r>
              <a:t>Highlighting the exact nucleotide regions driving the BiLSTM's classifications.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Observed Trends: The 2% error margin occurred exclusively between closely related recombinant forms or hypermutations.</a:t>
            </a:r>
          </a:p>
          <a:p>
            <a:pPr>
              <a:defRPr sz="2200"/>
            </a:pPr>
            <a:r>
              <a:t>Implications: The model heavily relies on rigid conserved regions.</a:t>
            </a:r>
          </a:p>
          <a:p>
            <a:pPr>
              <a:defRPr sz="2200"/>
            </a:pPr>
            <a:r>
              <a:t>When 'viral drift' mutates these domains, the model's confidence drops, indicating a blur in rigid subtype boundaries.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A decoupled production deployment module.</a:t>
            </a:r>
          </a:p>
          <a:p>
            <a:pPr>
              <a:defRPr sz="2200"/>
            </a:pPr>
            <a:r>
              <a:t>Dynamically reads training histories.</a:t>
            </a:r>
          </a:p>
          <a:p>
            <a:pPr>
              <a:defRPr sz="2200"/>
            </a:pPr>
            <a:r>
              <a:t>Automatically identifies and loads the highest-performing architecture natively.</a:t>
            </a:r>
          </a:p>
          <a:p>
            <a:pPr>
              <a:defRPr sz="2200"/>
            </a:pPr>
            <a:r>
              <a:t>Ready for real-time FASTA inference.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Conclusion: Alignment-free Deep Learning (BiLSTM) combined with Focal Loss achieves state-of-the-art 98% accuracy on raw HIV-1 pol sequences.</a:t>
            </a:r>
          </a:p>
          <a:p>
            <a:pPr>
              <a:defRPr sz="2200"/>
            </a:pPr>
            <a:r>
              <a:t>Future Work 1: Expand to Circulating Recombinant Forms (CRFs).</a:t>
            </a:r>
          </a:p>
          <a:p>
            <a:pPr>
              <a:defRPr sz="2200"/>
            </a:pPr>
            <a:r>
              <a:t>Future Work 2: Wrap deployment module in a REST API for programmatic clinical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