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essential for guiding antiretroviral therapy and tracking epidemiological spread.</a:t>
            </a:r>
          </a:p>
          <a:p>
            <a:pPr>
              <a:defRPr sz="2000"/>
            </a:pPr>
            <a:r>
              <a:t>Previous Work: Existing tools heavily rely on computationally expensive Multiple Sequence Alignment (MSA) or k-mer counting.</a:t>
            </a:r>
          </a:p>
          <a:p>
            <a:pPr>
              <a:defRPr sz="2000"/>
            </a:pPr>
            <a:r>
              <a:t>Problem Statement: MSA struggles with hypermutations, and genomic databases suffer from severe geographical class imbalance.</a:t>
            </a:r>
          </a:p>
          <a:p>
            <a:pPr>
              <a:defRPr sz="2000"/>
            </a:pPr>
            <a:r>
              <a:t>Objective: To develop an automated, alignment-free Deep Learning classifier to categorize raw nucleotide sequences into Subtypes A, B, C, and D.</a:t>
            </a:r>
          </a:p>
          <a:p>
            <a:pPr>
              <a:defRPr sz="2000"/>
            </a:pPr>
            <a:r>
              <a:t>Significance: Eliminating the MSA bottleneck enables faster, more scalable, and highly accurate subtyping for clinical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Acquisition (Kameris Experiment)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Data was acquired by parsing 9,270 HIV-1 pol gene accessions utilized in the Kameris et al. experiment.</a:t>
            </a:r>
          </a:p>
          <a:p>
            <a:pPr>
              <a:defRPr sz="1400"/>
            </a:pPr>
            <a:r>
              <a:t>A JSON file was pulled from the Kameris GitHub repository to extract specific LANL sequence IDs.</a:t>
            </a:r>
          </a:p>
          <a:p>
            <a:pPr>
              <a:defRPr sz="1400"/>
            </a:pPr>
            <a:r>
              <a:t>These IDs were fed into the LANL HIV Sequence Database to batch download the raw FASTA sequences.</a:t>
            </a:r>
          </a:p>
          <a:p>
            <a:pPr>
              <a:defRPr sz="1400"/>
            </a:pPr>
            <a:r>
              <a:t>Sequences were then strictly filtered to our 4 target classes: Subtypes A, B, C, and D.</a:t>
            </a:r>
          </a:p>
          <a:p>
            <a:pPr>
              <a:defRPr sz="1400"/>
            </a:pPr>
            <a:r>
              <a:t>Severe Bias: Subtype B heavily dominates the final dataset (52.2%).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Alignment gaps ('-') completely stripped.</a:t>
            </a:r>
          </a:p>
          <a:p>
            <a:pPr>
              <a:defRPr sz="1400"/>
            </a:pPr>
            <a:r>
              <a:t>1. One-Hot Encoding: Used for MLP and 1D-CNN.</a:t>
            </a:r>
          </a:p>
          <a:p>
            <a:pPr>
              <a:defRPr sz="1400"/>
            </a:pPr>
            <a:r>
              <a:t>2. Label Embedding: Integers used for BiLSTM inputs.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Standard categorical cross-entropy caused precision degradation.</a:t>
            </a:r>
          </a:p>
          <a:p>
            <a:pPr>
              <a:defRPr sz="2000"/>
            </a:pPr>
            <a:r>
              <a:t>Implemented pure Focal Loss (Gamma=2.0).</a:t>
            </a:r>
          </a:p>
          <a:p>
            <a:pPr>
              <a:defRPr sz="2000"/>
            </a:pPr>
            <a:r>
              <a:t>Forces the gradient to focus heavily on hard-to-predict minority strains (A, C, 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Baseline MLP (73.8k Params): GlobalAvgPool -&gt; Dense(16) -&gt; Classifier.</a:t>
            </a:r>
          </a:p>
          <a:p>
            <a:pPr>
              <a:defRPr sz="2000"/>
            </a:pPr>
            <a:r>
              <a:t>2. 1D-CNN (200k Params): 4 Conv1D layers (filters: 32 to 128) alternating with MaxPool &amp; Dropout (0.5).</a:t>
            </a:r>
          </a:p>
          <a:p>
            <a:pPr>
              <a:defRPr sz="2000"/>
            </a:pPr>
            <a:r>
              <a:t>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Exploratory phase utilizing DNABERT.</a:t>
            </a:r>
          </a:p>
          <a:p>
            <a:pPr>
              <a:defRPr sz="1400"/>
            </a:pPr>
            <a:r>
              <a:t>Pre-trained on the human genome via Masked Language Modeling.</a:t>
            </a:r>
          </a:p>
          <a:p>
            <a:pPr>
              <a:defRPr sz="1400"/>
            </a:pPr>
            <a:r>
              <a:t>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