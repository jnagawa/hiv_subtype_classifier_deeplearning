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critical for tracking drug resistance.</a:t>
            </a:r>
          </a:p>
          <a:p>
            <a:pPr>
              <a:defRPr sz="2000"/>
            </a:pPr>
            <a:r>
              <a:t>Problem: Traditional MSA methods struggle with hypermutations.</a:t>
            </a:r>
          </a:p>
          <a:p>
            <a:pPr>
              <a:defRPr sz="2000"/>
            </a:pPr>
            <a:r>
              <a:t>Objective: Alignment-free Deep Learning pipeline for Subtypes A, B, C, D.</a:t>
            </a:r>
          </a:p>
          <a:p>
            <a:pPr>
              <a:defRPr sz="2000"/>
            </a:pPr>
            <a:r>
              <a:t>Methods: CNN and BiLSTM networks using Focal Loss.</a:t>
            </a:r>
          </a:p>
          <a:p>
            <a:pPr>
              <a:defRPr sz="2000"/>
            </a:pPr>
            <a:r>
              <a:t>Results: BiLSTM achieved 94.73% accuracy, resisting majority-class collapse.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Dataset &amp; Geographical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Data sourced from Los Alamos National Laboratory (LANL).</a:t>
            </a:r>
          </a:p>
          <a:p>
            <a:pPr>
              <a:defRPr sz="1400"/>
            </a:pPr>
            <a:r>
              <a:t>Severe Bias: Subtype B dominates North America &amp; Europe (52.2% of data).</a:t>
            </a:r>
          </a:p>
          <a:p>
            <a:pPr>
              <a:defRPr sz="1400"/>
            </a:pPr>
            <a:r>
              <a:t>Sequence Length Variability: Shown in the plot, padded to 3000bp.</a:t>
            </a:r>
          </a:p>
        </p:txBody>
      </p:sp>
      <p:pic>
        <p:nvPicPr>
          <p:cNvPr id="4" name="Picture 3" descr="sequence_leng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24989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Alignment gaps ('-') completely stripped.</a:t>
            </a:r>
          </a:p>
          <a:p>
            <a:pPr>
              <a:defRPr sz="1400"/>
            </a:pPr>
            <a:r>
              <a:t>1. One-Hot Encoding: Used for MLP and 1D-CNN.</a:t>
            </a:r>
          </a:p>
          <a:p>
            <a:pPr>
              <a:defRPr sz="1400"/>
            </a:pPr>
            <a:r>
              <a:t>2. Label Embedding: Integers used for BiLSTM inputs.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Standard categorical cross-entropy caused precision degradation.</a:t>
            </a:r>
          </a:p>
          <a:p>
            <a:pPr>
              <a:defRPr sz="2000"/>
            </a:pPr>
            <a:r>
              <a:t>Implemented pure Focal Loss (Gamma=2.0).</a:t>
            </a:r>
          </a:p>
          <a:p>
            <a:pPr>
              <a:defRPr sz="2000"/>
            </a:pPr>
            <a:r>
              <a:t>Forces the gradient to focus heavily on hard-to-predict minority strains (A, C, 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Baseline MLP (73.8k Params): GlobalAvgPool -&gt; Dense(16) -&gt; Classifier.</a:t>
            </a:r>
          </a:p>
          <a:p>
            <a:pPr>
              <a:defRPr sz="2000"/>
            </a:pPr>
            <a:r>
              <a:t>2. 1D-CNN (200k Params): 4 Conv1D layers (filters: 32 to 128) alternating with MaxPool &amp; Dropout (0.5).</a:t>
            </a:r>
          </a:p>
          <a:p>
            <a:pPr>
              <a:defRPr sz="2000"/>
            </a:pPr>
            <a:r>
              <a:t>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Exploratory phase utilizing DNABERT.</a:t>
            </a:r>
          </a:p>
          <a:p>
            <a:pPr>
              <a:defRPr sz="1400"/>
            </a:pPr>
            <a:r>
              <a:t>Pre-trained on the human genome via Masked Language Modeling.</a:t>
            </a:r>
          </a:p>
          <a:p>
            <a:pPr>
              <a:defRPr sz="1400"/>
            </a:pPr>
            <a:r>
              <a:t>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