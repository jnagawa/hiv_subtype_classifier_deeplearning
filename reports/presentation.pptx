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93C5FD"/>
                </a:solidFill>
                <a:latin typeface="Calibri"/>
              </a:defRPr>
            </a:pPr>
            <a:r>
              <a:t>Deep Learning for HIV-1</a:t>
            </a:r>
            <a:br/>
            <a:r>
              <a:t>Subtype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Calibri"/>
              </a:defRPr>
            </a:pPr>
            <a:r>
              <a:t>Using Raw Nucleotide Sequences from the pol Gene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Jovita Nagawa</a:t>
            </a:r>
            <a:br/>
            <a:r>
              <a:t>MSB7216: Deep Learning for Health Data</a:t>
            </a:r>
            <a:br/>
            <a:r>
              <a:t>Final Project Presentation — May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0A5FA"/>
                </a:solidFill>
                <a:latin typeface="Calibri"/>
              </a:defRPr>
            </a:pPr>
            <a:r>
              <a:t>PyTorch  •  1D-CNN  •  BiLSTM  •  DNABERT  •  K-mers  •  Gradio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3C5FD"/>
                </a:solidFill>
                <a:latin typeface="Calibri"/>
              </a:defRPr>
            </a:pPr>
            <a:r>
              <a:t>🧬  Why HIV-1 Subtype Classification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HIV-1 has extreme genetic diversity across 9+ subtypes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Subtypes A and D co-circulate in East Africa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Subtype influences drug efficacy &amp; disease progression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Traditional subtyping requires slow sequence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Calibri"/>
              </a:defRPr>
            </a:pPr>
            <a:r>
              <a:t>Our Goal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Classify pol gene → subtypes A, B, C, D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Use raw nucleotide data — no alignment required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Enable rapid, unaligned-sequence surveillance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097280"/>
            <a:ext cx="3840480" cy="4389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Clinical Relevance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73736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Epidemiological surveillance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Treatment optimization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Decentralized molecular testing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Resource-limited settings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3C5FD"/>
                </a:solidFill>
                <a:latin typeface="Calibri"/>
              </a:defRPr>
            </a:pPr>
            <a:r>
              <a:t>📊  Dataset: LANL HIV Sequence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Source: Los Alamos National Lab (LANL) — gold standard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Accessions from Solis-Reyes et al. (2018) Kameris paper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NOT from Kaggle or Zindi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9,270 accessions → 9,264 retrieved → 5,564 final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All sequences: originally 4,259 bp (gap-stripped to ~2,500-4,200)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54880" y="1097280"/>
          <a:ext cx="3931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Subtype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2,908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52.3%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2,303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278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754880" y="3474720"/>
            <a:ext cx="3931920" cy="731520"/>
          </a:xfrm>
          <a:prstGeom prst="roundRect">
            <a:avLst/>
          </a:prstGeom>
          <a:solidFill>
            <a:srgbClr val="3C2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37760" y="35661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BBF24"/>
                </a:solidFill>
                <a:latin typeface="Calibri"/>
              </a:defRPr>
            </a:pPr>
            <a:r>
              <a:t>⚠️ Severe imbalance: Subtype D has only 75 sequences (30:1 ratio vs B)</a:t>
            </a:r>
          </a:p>
        </p:txBody>
      </p:sp>
      <p:pic>
        <p:nvPicPr>
          <p:cNvPr id="7" name="Picture 6" descr="subtyp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14800"/>
            <a:ext cx="4114800" cy="15899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3C5FD"/>
                </a:solidFill>
                <a:latin typeface="Calibri"/>
              </a:defRPr>
            </a:pPr>
            <a:r>
              <a:t>🏗️  Methodology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188720"/>
            <a:ext cx="1188720" cy="822960"/>
          </a:xfrm>
          <a:prstGeom prst="roundRect">
            <a:avLst/>
          </a:prstGeom>
          <a:solidFill>
            <a:srgbClr val="1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344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3C5FD"/>
                </a:solidFill>
                <a:latin typeface="Calibri"/>
              </a:defRPr>
            </a:pPr>
            <a:r>
              <a:t>LANL</a:t>
            </a:r>
            <a:br/>
            <a:r>
              <a:t>FASTA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0A5F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1188720"/>
            <a:ext cx="1188720" cy="822960"/>
          </a:xfrm>
          <a:prstGeom prst="roundRect">
            <a:avLst/>
          </a:prstGeom>
          <a:solidFill>
            <a:srgbClr val="1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83080" y="12344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3C5FD"/>
                </a:solidFill>
                <a:latin typeface="Calibri"/>
              </a:defRPr>
            </a:pPr>
            <a:r>
              <a:t>Parse &amp;</a:t>
            </a:r>
            <a:br/>
            <a:r>
              <a:t>Clean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0A5F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188720"/>
            <a:ext cx="1188720" cy="822960"/>
          </a:xfrm>
          <a:prstGeom prst="roundRect">
            <a:avLst/>
          </a:prstGeom>
          <a:solidFill>
            <a:srgbClr val="1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2344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3C5FD"/>
                </a:solidFill>
                <a:latin typeface="Calibri"/>
              </a:defRPr>
            </a:pPr>
            <a:r>
              <a:t>One-Hot</a:t>
            </a:r>
            <a:br/>
            <a:r>
              <a:t>Encode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0A5F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188720"/>
            <a:ext cx="1188720" cy="822960"/>
          </a:xfrm>
          <a:prstGeom prst="roundRect">
            <a:avLst/>
          </a:prstGeom>
          <a:solidFill>
            <a:srgbClr val="1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12344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3C5FD"/>
                </a:solidFill>
                <a:latin typeface="Calibri"/>
              </a:defRPr>
            </a:pPr>
            <a:r>
              <a:t>Stratified</a:t>
            </a:r>
            <a:br/>
            <a:r>
              <a:t>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0A5F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188720"/>
            <a:ext cx="1188720" cy="822960"/>
          </a:xfrm>
          <a:prstGeom prst="roundRect">
            <a:avLst/>
          </a:prstGeom>
          <a:solidFill>
            <a:srgbClr val="1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2344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3C5FD"/>
                </a:solidFill>
                <a:latin typeface="Calibri"/>
              </a:defRPr>
            </a:pPr>
            <a:r>
              <a:t>Train</a:t>
            </a:r>
            <a:br/>
            <a:r>
              <a:t>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0A5F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1188720"/>
            <a:ext cx="1188720" cy="822960"/>
          </a:xfrm>
          <a:prstGeom prst="roundRect">
            <a:avLst/>
          </a:prstGeom>
          <a:solidFill>
            <a:srgbClr val="1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12344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3C5FD"/>
                </a:solidFill>
                <a:latin typeface="Calibri"/>
              </a:defRPr>
            </a:pPr>
            <a:r>
              <a:t>Evaluate</a:t>
            </a:r>
            <a:br/>
            <a:r>
              <a:t>&amp; Deploy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3774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Encoding: Gap-Stripped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83464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Strip alignment gaps → variable-length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Each nucleotide → 4D vector (A, C, G, T)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Dynamic per-batch padding (collate_fn)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No alignment required at inference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3774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Focal Loss (γ=2.0) + Class Weights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4846320" y="2834640"/>
          <a:ext cx="3657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5.02×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0.48×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0.60×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18.38×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77724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3C5FD"/>
                </a:solidFill>
                <a:latin typeface="Calibri"/>
              </a:defRPr>
            </a:pPr>
            <a:r>
              <a:t>🧠  Model Architectures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188720"/>
            <a:ext cx="2743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4A3B8"/>
                </a:solidFill>
                <a:latin typeface="Calibri"/>
              </a:defRPr>
            </a:pPr>
            <a:r>
              <a:t>Baseline: MLP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C8"/>
                </a:solidFill>
                <a:latin typeface="Calibri"/>
              </a:defRPr>
            </a:pPr>
            <a:r>
              <a:t>AdaptiveAvgPool1d(64)</a:t>
            </a:r>
            <a:br/>
            <a:r>
              <a:t>Flatten → 256</a:t>
            </a:r>
            <a:br/>
            <a:r>
              <a:t>FC(256→512) + BN + ReLU</a:t>
            </a:r>
            <a:br/>
            <a:r>
              <a:t>FC(512→256) + BN + ReLU</a:t>
            </a:r>
            <a:br/>
            <a:r>
              <a:t>FC(256→4)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196K params  •  5 epochs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188720"/>
            <a:ext cx="2743200" cy="4114800"/>
          </a:xfrm>
          <a:prstGeom prst="roundRect">
            <a:avLst/>
          </a:prstGeom>
          <a:solidFill>
            <a:srgbClr val="1E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0A5FA"/>
                </a:solidFill>
                <a:latin typeface="Calibri"/>
              </a:defRPr>
            </a:pPr>
            <a:r>
              <a:t>⭐ Primary: 1D-CNN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7373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C8DC"/>
                </a:solidFill>
                <a:latin typeface="Calibri"/>
              </a:defRPr>
            </a:pPr>
            <a:r>
              <a:t>Conv1d(4→64, k=7) + Pool(4)</a:t>
            </a:r>
            <a:br/>
            <a:r>
              <a:t>Conv1d(64→128, k=5) + Pool(4)</a:t>
            </a:r>
            <a:br/>
            <a:r>
              <a:t>Conv1d(128→256, k=3) + Pool(4)</a:t>
            </a:r>
            <a:br/>
            <a:r>
              <a:t>Conv1d(256→256, k=3) + GAP</a:t>
            </a:r>
            <a:br/>
            <a:r>
              <a:t>FC(256→128→4)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4389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D399"/>
                </a:solidFill>
                <a:latin typeface="Calibri"/>
              </a:defRPr>
            </a:pPr>
            <a:r>
              <a:t>374K params  •  7 epochs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188720"/>
            <a:ext cx="2743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Secondary: BiLSTM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73736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C8"/>
                </a:solidFill>
                <a:latin typeface="Calibri"/>
              </a:defRPr>
            </a:pPr>
            <a:r>
              <a:t>Embedding(5→128)</a:t>
            </a:r>
            <a:br/>
            <a:r>
              <a:t>BiLSTM(128→256, 2 layers)</a:t>
            </a:r>
            <a:br/>
            <a:r>
              <a:t>Concat fwd+bwd → 512</a:t>
            </a:r>
            <a:br/>
            <a:r>
              <a:t>FC(512→128→4)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389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BBF24"/>
                </a:solidFill>
                <a:latin typeface="Calibri"/>
              </a:defRPr>
            </a:pPr>
            <a:r>
              <a:t>2.4M params  •  17 epochs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All models: AdamW • CosineAnnealing LR • Focal Loss (γ=2.0) • Early Stopping • Grad Clipping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3C5FD"/>
                </a:solidFill>
                <a:latin typeface="Calibri"/>
              </a:defRPr>
            </a:pPr>
            <a:r>
              <a:t>🚀  Transfer Learning &amp; K-mer 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Calibri"/>
              </a:defRPr>
            </a:pPr>
            <a:r>
              <a:t>DNABERT (Transfer Learning)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Pre-trained on human genome (Ji et al., 2021)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Standard BERT: 12 layers, 12 heads, 768-dim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6-mer tokenization of DNA sequences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2-phase: frozen head → full fine-tuning</a:t>
            </a:r>
          </a:p>
          <a:p>
            <a:pPr>
              <a:spcAft>
                <a:spcPts val="60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▸ ~86M pre-trained + ~590K new params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46320" y="1097280"/>
            <a:ext cx="3840480" cy="4114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1188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D399"/>
                </a:solidFill>
                <a:latin typeface="Calibri"/>
              </a:defRPr>
            </a:pPr>
            <a:r>
              <a:t>K-mer DNN (Alt. Features)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64592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6-mer frequency vectors (4⁶ = 4,096 features)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Inspired by Kameris (Solis-Reyes 2018)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Discards positional info → composition only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DNN: 4096→512→256→128→4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8404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BBF24"/>
                </a:solidFill>
                <a:latin typeface="Calibri"/>
              </a:defRPr>
            </a:pPr>
            <a:r>
              <a:t>Key question: Does positional info</a:t>
            </a:r>
            <a:br/>
            <a:r>
              <a:t>(CNN) outperform composition (k-mers)?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3C5FD"/>
                </a:solidFill>
                <a:latin typeface="Calibri"/>
              </a:defRPr>
            </a:pPr>
            <a:r>
              <a:t>📈 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Calibri"/>
              </a:defRPr>
            </a:pPr>
            <a:r>
              <a:t>1D-CNN (Primary Model)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3931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2980"/>
                <a:gridCol w="982980"/>
                <a:gridCol w="982980"/>
                <a:gridCol w="9829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Epoch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Train Acc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Val Loss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Val Acc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60.4%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1.4777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46.5%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0.3531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99.7%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Early stop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84632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Calibri"/>
              </a:defRPr>
            </a:pPr>
            <a:r>
              <a:t>BiLSTM (Secondary Model)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846320" y="1645920"/>
          <a:ext cx="3931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2980"/>
                <a:gridCol w="982980"/>
                <a:gridCol w="982980"/>
                <a:gridCol w="9829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Epoch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Train Acc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Val Loss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Val Acc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57.5%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1.1462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76.2%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0.5059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94.7%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Early stop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model_comparison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0"/>
            <a:ext cx="8229600" cy="292362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3C5FD"/>
                </a:solidFill>
                <a:latin typeface="Calibri"/>
              </a:defRPr>
            </a:pPr>
            <a:r>
              <a:t>🏆  Results: Model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Macro Precision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Macro Recall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MLP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72.81%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0.6095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0.6025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0.7410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1D-CNN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98.44%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0.7409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0.7435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BiLSTM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93.53%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0.6468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0.6173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0.7035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3657600"/>
            <a:ext cx="25603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  <a:latin typeface="Calibri"/>
              </a:defRPr>
            </a:pPr>
            <a:r>
              <a:t>98.4%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Best Accuracy (CNN)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3657600"/>
            <a:ext cx="25603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3749039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  <a:latin typeface="Calibri"/>
              </a:defRPr>
            </a:pPr>
            <a:r>
              <a:t>+25.6pp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4572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vs.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657600"/>
            <a:ext cx="25603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3749039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87171"/>
                </a:solidFill>
                <a:latin typeface="Calibri"/>
              </a:defRPr>
            </a:pPr>
            <a:r>
              <a:t>1.6%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572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Error Rate (13/835)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3C5FD"/>
                </a:solidFill>
                <a:latin typeface="Calibri"/>
              </a:defRPr>
            </a:pPr>
            <a:r>
              <a:t>📋  Per-Class Performance (1D-CNN)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822960"/>
                <a:gridCol w="822960"/>
                <a:gridCol w="82296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Subtype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 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0.976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0.988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 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 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0.964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0.982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346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 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846320" y="10972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64592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Accuracy (98.4%) reflects weighted performance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Macro F1 (0.74) penalizes equally per class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D's 0.00 F1 drags macro average down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Weighted F1 = 0.978 (practical measure)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Excellent for A, B, C — unusable for D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Root cause: data scarcity, not architecture</a:t>
            </a:r>
          </a:p>
        </p:txBody>
      </p:sp>
      <p:pic>
        <p:nvPicPr>
          <p:cNvPr id="6" name="Picture 5" descr="best_model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14800"/>
            <a:ext cx="8229600" cy="4893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3C5FD"/>
                </a:solidFill>
                <a:latin typeface="Calibri"/>
              </a:defRPr>
            </a:pPr>
            <a:r>
              <a:t>🔍  Error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0E0E0"/>
                </a:solidFill>
                <a:latin typeface="Calibri"/>
              </a:defRPr>
            </a:pPr>
            <a:r>
              <a:t>Only 13/835 test sequences misclassified (1.6%)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39319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True → Predicted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 → 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Phylogenetically close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 →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 → 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Rare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004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Error Confidence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6616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Mean confidence: 0.709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Median confidence: 0.786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Systematic, not borderline errors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097280"/>
            <a:ext cx="384048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188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Biological Explanation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5544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▸ C and D share phylogenetic similarity in pol</a:t>
            </a:r>
          </a:p>
          <a:p>
            <a:pPr>
              <a:spcAft>
                <a:spcPts val="600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▸ Both co-circulate in East Africa</a:t>
            </a:r>
          </a:p>
          <a:p>
            <a:pPr>
              <a:spcAft>
                <a:spcPts val="600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▸ Possible recombination events</a:t>
            </a:r>
          </a:p>
          <a:p>
            <a:pPr>
              <a:spcAft>
                <a:spcPts val="600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▸ 30:1 ratio (C vs D training samples)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3657600"/>
            <a:ext cx="38404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37490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0A5FA"/>
                </a:solidFill>
                <a:latin typeface="Calibri"/>
              </a:defRPr>
            </a:pPr>
            <a:r>
              <a:t>Why CNN &gt; BiLSTM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411480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▸ Subtype signal is local (motif-level)</a:t>
            </a:r>
          </a:p>
          <a:p>
            <a:pPr>
              <a:spcAft>
                <a:spcPts val="600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▸ CNN filters naturally detect local motifs</a:t>
            </a:r>
          </a:p>
          <a:p>
            <a:pPr>
              <a:spcAft>
                <a:spcPts val="600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▸ BiLSTM adds 6.5× params without benefit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3C5FD"/>
                </a:solidFill>
                <a:latin typeface="Calibri"/>
              </a:defRPr>
            </a:pPr>
            <a:r>
              <a:t>📊  Confusion Matrices &amp; ROC Curves</a:t>
            </a:r>
          </a:p>
        </p:txBody>
      </p:sp>
      <p:pic>
        <p:nvPicPr>
          <p:cNvPr id="3" name="Picture 2" descr="all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595360" cy="2178276"/>
          </a:xfrm>
          <a:prstGeom prst="rect">
            <a:avLst/>
          </a:prstGeom>
        </p:spPr>
      </p:pic>
      <p:pic>
        <p:nvPicPr>
          <p:cNvPr id="4" name="Picture 3" descr="best_model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3657600"/>
            <a:ext cx="4572000" cy="36415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3C5FD"/>
                </a:solidFill>
                <a:latin typeface="Calibri"/>
              </a:defRPr>
            </a:pPr>
            <a:r>
              <a:t>🚀  Deployment: Gradio Web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Paste or upload HIV-1 nucleotide sequences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Supports FASTA format and plain text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Real-time subtype prediction with confidence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Handles ambiguous IUPAC bases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One-click shareable link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Works locally or on Google Colab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46320" y="1097280"/>
            <a:ext cx="3840480" cy="2743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1188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Calibri"/>
              </a:defRPr>
            </a:pPr>
            <a:r>
              <a:t>How to 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64592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C8DC"/>
                </a:solidFill>
                <a:latin typeface="Calibri"/>
              </a:defRPr>
            </a:pPr>
            <a:r>
              <a:t>python app.py</a:t>
            </a:r>
            <a:br/>
            <a:br/>
            <a:r>
              <a:t># Or in Google Colab:</a:t>
            </a:r>
            <a:br/>
            <a:r>
              <a:t>exec(open('app.py').read())</a:t>
            </a:r>
            <a:br/>
            <a:br/>
            <a:r>
              <a:t>Input: HIV-1 nucleotide sequence</a:t>
            </a:r>
            <a:br/>
            <a:r>
              <a:t>Output: Subtype + confidence scores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754880"/>
            <a:ext cx="8229600" cy="731520"/>
          </a:xfrm>
          <a:prstGeom prst="roundRect">
            <a:avLst/>
          </a:prstGeom>
          <a:solidFill>
            <a:srgbClr val="3C2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84632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BBF24"/>
                </a:solidFill>
                <a:latin typeface="Calibri"/>
              </a:defRPr>
            </a:pPr>
            <a:r>
              <a:t>⚠️  Research/educational tool only. For clinical subtype determination, use REGA, COMET, or jpHMM.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3C5FD"/>
                </a:solidFill>
                <a:latin typeface="Calibri"/>
              </a:defRPr>
            </a:pPr>
            <a:r>
              <a:t>⚖️  Ethical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Data 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All sequences from public LANL database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No patient-identifiable information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GenBank accession numbers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Sampling Bias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Subtype B overrepresented (Western sequencing bias)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A &amp; D underrepresented despite East African importance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Model performance mirrors this inequity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097280"/>
            <a:ext cx="384048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188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Calibri"/>
              </a:defRPr>
            </a:pPr>
            <a:r>
              <a:t>Fairness Implications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64592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▸ Near-perfect for well-sampled subtypes (B, C)</a:t>
            </a:r>
          </a:p>
          <a:p>
            <a:pPr>
              <a:spcAft>
                <a:spcPts val="600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▸ Complete failure for subtype D</a:t>
            </a:r>
          </a:p>
          <a:p>
            <a:pPr>
              <a:spcAft>
                <a:spcPts val="600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▸ D is most relevant to East African settings</a:t>
            </a:r>
          </a:p>
          <a:p>
            <a:pPr>
              <a:spcAft>
                <a:spcPts val="600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▸ Communities most affected → least represented</a:t>
            </a:r>
          </a:p>
          <a:p>
            <a:pPr>
              <a:spcAft>
                <a:spcPts val="600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▸ Explicit disclaimers in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3C5FD"/>
                </a:solidFill>
                <a:latin typeface="Calibri"/>
              </a:defRPr>
            </a:pPr>
            <a:r>
              <a:t>⚠️  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87171"/>
                </a:solidFill>
                <a:latin typeface="Calibri"/>
              </a:defRPr>
            </a:pPr>
            <a:r>
              <a:t>Current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Severe class imbalance (D: 75 sequences)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Only 4 of 9+ subtypes classified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No CRF/recombinant detection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Gap-stripped ≠ truly unaligned data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DNABERT-2 failed (O(L²) memory)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No explainability (Grad-CAM, attention)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0972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Calibri"/>
              </a:defRPr>
            </a:pPr>
            <a:r>
              <a:t>Future Directions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55448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Data augmentation for rare subtypes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Multi-gene classification (gag + pol + env)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Extend to all subtypes and CRFs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Grad-CAM filter visualization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Efficient transformers (FlashAttention)</a:t>
            </a:r>
          </a:p>
          <a:p>
            <a:pPr>
              <a:spcAft>
                <a:spcPts val="60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▸ True unaligned sequence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93C5FD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4A3B8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4114800"/>
            <a:ext cx="4572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68880" y="42062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457200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▸ GitHub: github.com/jnagawa/hiv-subtype-classifier</a:t>
            </a:r>
          </a:p>
          <a:p>
            <a:pPr>
              <a:spcAft>
                <a:spcPts val="600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▸ Dataset: Los Alamos HIV Database (hiv.lanl.gov)</a:t>
            </a:r>
          </a:p>
          <a:p>
            <a:pPr>
              <a:spcAft>
                <a:spcPts val="600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▸ Framework: PyTorch + Gradio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Jovita Nagawa — MSB7216: Deep Learning for Health Data —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