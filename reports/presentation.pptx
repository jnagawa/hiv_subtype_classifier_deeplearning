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Deep Learning for HIV-1 Subtype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BiLSTM and Focal Loss Approach on unaligned pol Gene Sequences</a:t>
            </a:r>
          </a:p>
          <a:p>
            <a:r>
              <a:t>MSB7216: Deep Learning for Health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Abstract &amp;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Background: HIV-1 subtyping is essential for guiding antiretroviral therapy and tracking epidemiological spread.</a:t>
            </a:r>
          </a:p>
          <a:p>
            <a:pPr>
              <a:defRPr sz="2000"/>
            </a:pPr>
            <a:r>
              <a:t>Previous Work: Existing tools heavily rely on computationally expensive Multiple Sequence Alignment (MSA) or k-mer counting.</a:t>
            </a:r>
          </a:p>
          <a:p>
            <a:pPr>
              <a:defRPr sz="2000"/>
            </a:pPr>
            <a:r>
              <a:t>Problem Statement: MSA struggles with hypermutations, and genomic databases suffer from severe geographical class imbalance.</a:t>
            </a:r>
          </a:p>
          <a:p>
            <a:pPr>
              <a:defRPr sz="2000"/>
            </a:pPr>
            <a:r>
              <a:t>Objective: To develop an automated, alignment-free Deep Learning classifier to categorize raw nucleotide sequences into Subtypes A, B, C, and D.</a:t>
            </a:r>
          </a:p>
          <a:p>
            <a:pPr>
              <a:defRPr sz="2000"/>
            </a:pPr>
            <a:r>
              <a:t>Significance: Eliminating the MSA bottleneck enables faster, more scalable, and highly accurate subtyping for clinical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Acquisition (Kameris Experiment)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Data was acquired by parsing 9,270 HIV-1 pol gene accessions utilized in the Kameris et al. experiment.</a:t>
            </a:r>
          </a:p>
          <a:p>
            <a:pPr>
              <a:defRPr sz="2000"/>
            </a:pPr>
            <a:r>
              <a:t>A JSON file was pulled from the Kameris GitHub repository to extract specific LANL sequence IDs.</a:t>
            </a:r>
          </a:p>
          <a:p>
            <a:pPr>
              <a:defRPr sz="2000"/>
            </a:pPr>
            <a:r>
              <a:t>These IDs were fed into the LANL HIV Sequence Database to batch download the raw FASTA sequences.</a:t>
            </a:r>
          </a:p>
          <a:p>
            <a:pPr>
              <a:defRPr sz="2000"/>
            </a:pPr>
            <a:r>
              <a:t>Sequences were then strictly filtered to our 4 target classes: Subtypes A, B, C, and D.</a:t>
            </a:r>
          </a:p>
          <a:p>
            <a:pPr>
              <a:defRPr sz="2000"/>
            </a:pPr>
            <a:r>
              <a:t>Severe Bias: Subtype B heavily dominates the final dataset (52.2%).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Processing &amp; Class Balancing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t>Gap Splitting &amp; Encoding</a:t>
            </a:r>
          </a:p>
          <a:p>
            <a:pPr>
              <a:defRPr sz="1600"/>
            </a:pPr>
            <a:r>
              <a:t>• Alignment gaps ('-') completely stripped. Sequences padded to 3000bp.</a:t>
            </a:r>
          </a:p>
          <a:p>
            <a:pPr>
              <a:defRPr sz="1600"/>
            </a:pPr>
            <a:r>
              <a:t>• Before: 'A-T-C' -&gt; After: 'ATC' -&gt; [1, 4, 2, 0...]</a:t>
            </a:r>
          </a:p>
          <a:p>
            <a:pPr>
              <a:defRPr sz="1600"/>
            </a:pPr>
            <a:r>
              <a:t>• One-Hot Encoding: Used for MLP and 1D-CNN.</a:t>
            </a:r>
          </a:p>
          <a:p>
            <a:pPr>
              <a:defRPr sz="1600"/>
            </a:pPr>
            <a:r>
              <a:t>• Label Embedding: Integer mapping used for BiLSTM.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Addressing Class Imbalance</a:t>
            </a:r>
          </a:p>
          <a:p>
            <a:pPr>
              <a:defRPr sz="1600"/>
            </a:pPr>
            <a:r>
              <a:t>• Subtype B severely dominates the data.</a:t>
            </a:r>
          </a:p>
          <a:p>
            <a:pPr>
              <a:defRPr sz="1600"/>
            </a:pPr>
            <a:r>
              <a:t>• Standard cross-entropy caused precision collapse.</a:t>
            </a:r>
          </a:p>
          <a:p>
            <a:pPr>
              <a:defRPr sz="1600"/>
            </a:pPr>
            <a:r>
              <a:t>• Solution: Pure Focal Loss (Gamma=2.0).</a:t>
            </a:r>
          </a:p>
          <a:p>
            <a:pPr>
              <a:defRPr sz="1600"/>
            </a:pPr>
            <a:r>
              <a:t>• Forces gradient to focus on hard-to-predict minority strains (A, C, D).</a:t>
            </a:r>
          </a:p>
        </p:txBody>
      </p:sp>
      <p:pic>
        <p:nvPicPr>
          <p:cNvPr id="5" name="Picture 4" descr="sequence_leng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14800"/>
            <a:ext cx="3657600" cy="1999185"/>
          </a:xfrm>
          <a:prstGeom prst="rect">
            <a:avLst/>
          </a:prstGeom>
        </p:spPr>
      </p:pic>
      <p:pic>
        <p:nvPicPr>
          <p:cNvPr id="6" name="Picture 5" descr="subtyp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4114800"/>
            <a:ext cx="3657600" cy="14132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Baseline MLP (73.8k Params): GlobalAvgPool -&gt; Dense(16) -&gt; Classifier.</a:t>
            </a:r>
          </a:p>
          <a:p>
            <a:pPr>
              <a:defRPr sz="2000"/>
            </a:pPr>
            <a:r>
              <a:t>2. 1D-CNN (200k Params): 4 Conv1D layers (filters: 32 to 128) alternating with MaxPool &amp; Dropout (0.5).</a:t>
            </a:r>
          </a:p>
          <a:p>
            <a:pPr>
              <a:defRPr sz="2000"/>
            </a:pPr>
            <a:r>
              <a:t>3. BiLSTM (2.1M Params): 128-dim Embedding -&gt; 2-layer Bidirectional LSTM (256 hidden) -&gt; Dense(128).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Transfer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Exploratory phase utilizing DNABERT.</a:t>
            </a:r>
          </a:p>
          <a:p>
            <a:pPr>
              <a:defRPr sz="1400"/>
            </a:pPr>
            <a:r>
              <a:t>Pre-trained on the human genome via Masked Language Modeling.</a:t>
            </a:r>
          </a:p>
          <a:p>
            <a:pPr>
              <a:defRPr sz="1400"/>
            </a:pPr>
            <a:r>
              <a:t>Classification head fine-tuned to test cross-domain transfer learning to viral genomes.</a:t>
            </a:r>
          </a:p>
        </p:txBody>
      </p:sp>
      <p:pic>
        <p:nvPicPr>
          <p:cNvPr id="4" name="Picture 3" descr="dnabert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152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Explainability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Universal Saliency Map using Input-Gradient Attention.</a:t>
            </a:r>
          </a:p>
          <a:p>
            <a:pPr>
              <a:defRPr sz="1400"/>
            </a:pPr>
            <a:r>
              <a:t>Highlights the exact nucleotide regions driving the BiLSTM's classifications.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Model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Test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Macro F1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Baseline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0.5114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1D-CNN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BiLSTM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0.9473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0.6982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0.6541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DNABERT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0.1715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Confusion Matrices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BiLSTM accurately maps minority classes.</a:t>
            </a:r>
          </a:p>
          <a:p>
            <a:pPr>
              <a:defRPr sz="1400"/>
            </a:pPr>
            <a:r>
              <a:t>CNN and DNABERT collapsed entirely (52.22% Subtype B baseline).</a:t>
            </a:r>
          </a:p>
        </p:txBody>
      </p:sp>
      <p:pic>
        <p:nvPicPr>
          <p:cNvPr id="4" name="Picture 3" descr="all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029200" cy="105278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ROC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The Receiver Operating Characteristic confirms the BiLSTM's high true positive rate across all four classes.</a:t>
            </a:r>
          </a:p>
        </p:txBody>
      </p:sp>
      <p:pic>
        <p:nvPicPr>
          <p:cNvPr id="4" name="Picture 3" descr="best_model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4572000" cy="36415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Error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Causes: CNNs and DNABERT collapsed due to geographic imbalance.</a:t>
            </a:r>
          </a:p>
          <a:p>
            <a:pPr>
              <a:defRPr sz="2000"/>
            </a:pPr>
            <a:r>
              <a:t>Implications: Saliency Maps show BiLSTMs rely on conserved regions. When 'viral drift' mutates these domains, confidence drops.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1. Extreme Geographical Imbalance: Hard for spatial models (CNN) to overcome.</a:t>
            </a:r>
          </a:p>
          <a:p>
            <a:pPr>
              <a:defRPr sz="2000"/>
            </a:pPr>
            <a:r>
              <a:t>2. Computational Limits: VRAM restricted DNABERT's ability to learn 3000bp sequences.</a:t>
            </a:r>
          </a:p>
          <a:p>
            <a:pPr>
              <a:defRPr sz="2000"/>
            </a:pPr>
            <a:r>
              <a:t>3. Domain Gap: Human genome pre-training doesn't translate perfectly to viruses.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Decoupled production deployment module.</a:t>
            </a:r>
          </a:p>
          <a:p>
            <a:pPr>
              <a:defRPr sz="2000"/>
            </a:pPr>
            <a:r>
              <a:t>Automatically loads the highest-performing architecture (BiLSTM).</a:t>
            </a:r>
          </a:p>
          <a:p>
            <a:pPr>
              <a:defRPr sz="2000"/>
            </a:pPr>
            <a:r>
              <a:t>Ready for real-time FASTA inference.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Conclusion: Alignment-free Deep Learning (BiLSTM) handles viral genomic imbalances far better than CNNs, achieving 94.73% accuracy.</a:t>
            </a:r>
          </a:p>
          <a:p>
            <a:pPr>
              <a:defRPr sz="2000"/>
            </a:pPr>
            <a:r>
              <a:t>Future Work: Expand to Circulating Recombinant Forms (CRFs) and launch via FastAPI.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