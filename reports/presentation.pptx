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for HIV-1 Subtype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BiLSTM and Focal Loss Approach on unaligned pol Gene Sequences</a:t>
            </a:r>
          </a:p>
          <a:p>
            <a:r>
              <a:t>MSB7216: Deep Learning for Health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 &amp;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Background: HIV-1 subtyping is critical for tracking drug resistance.</a:t>
            </a:r>
          </a:p>
          <a:p>
            <a:pPr>
              <a:defRPr sz="2000"/>
            </a:pPr>
            <a:r>
              <a:t>Problem: Traditional MSA methods struggle with hypermutations.</a:t>
            </a:r>
          </a:p>
          <a:p>
            <a:pPr>
              <a:defRPr sz="2000"/>
            </a:pPr>
            <a:r>
              <a:t>Objective: Alignment-free Deep Learning pipeline for Subtypes A, B, C, D.</a:t>
            </a:r>
          </a:p>
          <a:p>
            <a:pPr>
              <a:defRPr sz="2000"/>
            </a:pPr>
            <a:r>
              <a:t>Methods: CNN and BiLSTM networks using Focal Loss.</a:t>
            </a:r>
          </a:p>
          <a:p>
            <a:pPr>
              <a:defRPr sz="2000"/>
            </a:pPr>
            <a:r>
              <a:t>Results: BiLSTM achieved 94.73% accuracy, resisting majority-class collapse.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Dataset &amp; Geographical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Data sourced from Los Alamos National Laboratory (LANL).</a:t>
            </a:r>
          </a:p>
          <a:p>
            <a:pPr>
              <a:defRPr sz="1400"/>
            </a:pPr>
            <a:r>
              <a:t>Severe Bias: Subtype B dominates North America &amp; Europe (52.2% of data).</a:t>
            </a:r>
          </a:p>
          <a:p>
            <a:pPr>
              <a:defRPr sz="1400"/>
            </a:pPr>
            <a:r>
              <a:t>Risk: Models inherently want to predict 'B' for everything to minimize loss.</a:t>
            </a:r>
          </a:p>
        </p:txBody>
      </p:sp>
      <p:pic>
        <p:nvPicPr>
          <p:cNvPr id="4" name="Picture 3" descr="subtyp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7666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Processing &amp; Encoding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Alignment gaps ('-') completely stripped.</a:t>
            </a:r>
          </a:p>
          <a:p>
            <a:pPr>
              <a:defRPr sz="2000"/>
            </a:pPr>
            <a:r>
              <a:t>1. One-Hot Encoding: Used for MLP and 1D-CNN.</a:t>
            </a:r>
          </a:p>
          <a:p>
            <a:pPr>
              <a:defRPr sz="2000"/>
            </a:pPr>
            <a:r>
              <a:t>2. Label Embedding: Integers used for BiLSTM inputs.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Class 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Standard categorical cross-entropy caused precision degradation.</a:t>
            </a:r>
          </a:p>
          <a:p>
            <a:pPr>
              <a:defRPr sz="2000"/>
            </a:pPr>
            <a:r>
              <a:t>Implemented pure Focal Loss (Gamma=2.0).</a:t>
            </a:r>
          </a:p>
          <a:p>
            <a:pPr>
              <a:defRPr sz="2000"/>
            </a:pPr>
            <a:r>
              <a:t>Forces the gradient to focus heavily on hard-to-predict minority strains (A, C, 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The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Baseline MLP: Global Average Pooling. Looks at total nucleotide composition.</a:t>
            </a:r>
          </a:p>
          <a:p>
            <a:pPr>
              <a:defRPr sz="2000"/>
            </a:pPr>
            <a:r>
              <a:t>1D-CNN: Extracts localized spatial motifs (k-mers).</a:t>
            </a:r>
          </a:p>
          <a:p>
            <a:pPr>
              <a:defRPr sz="2000"/>
            </a:pPr>
            <a:r>
              <a:t>BiLSTM: Bidirectional recurrent sequence processing. Captures long-range dependencies.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Transfer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Exploratory phase utilizing DNABERT.</a:t>
            </a:r>
          </a:p>
          <a:p>
            <a:pPr>
              <a:defRPr sz="2000"/>
            </a:pPr>
            <a:r>
              <a:t>Pre-trained on the human genome via Masked Language Modeling.</a:t>
            </a:r>
          </a:p>
          <a:p>
            <a:pPr>
              <a:defRPr sz="2000"/>
            </a:pPr>
            <a:r>
              <a:t>Classification head fine-tuned to test cross-domain transfer learning to viral genomes.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Explainability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Universal Saliency Map using Input-Gradient Attention.</a:t>
            </a:r>
          </a:p>
          <a:p>
            <a:pPr>
              <a:defRPr sz="1400"/>
            </a:pPr>
            <a:r>
              <a:t>Highlights the exact nucleotide regions driving the BiLSTM's classifications.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Test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F1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Baseline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0.6982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DNABERT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Confusion 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BiLSTM accurately maps minority classes.</a:t>
            </a:r>
          </a:p>
          <a:p>
            <a:pPr>
              <a:defRPr sz="1400"/>
            </a:pPr>
            <a:r>
              <a:t>CNN and DNABERT collapsed entirely (52.22% Subtype B baseline).</a:t>
            </a:r>
          </a:p>
        </p:txBody>
      </p:sp>
      <p:pic>
        <p:nvPicPr>
          <p:cNvPr id="4" name="Picture 3" descr="al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95708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Causes: CNNs and DNABERT collapsed due to geographic imbalance.</a:t>
            </a:r>
          </a:p>
          <a:p>
            <a:pPr>
              <a:defRPr sz="2000"/>
            </a:pPr>
            <a:r>
              <a:t>Implications: Saliency Maps show BiLSTMs rely on conserved regions. When 'viral drift' mutates these domains, confidence drops.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Extreme Geographical Imbalance: Hard for spatial models (CNN) to overcome.</a:t>
            </a:r>
          </a:p>
          <a:p>
            <a:pPr>
              <a:defRPr sz="2000"/>
            </a:pPr>
            <a:r>
              <a:t>2. Computational Limits: VRAM restricted DNABERT's ability to learn 3000bp sequences.</a:t>
            </a:r>
          </a:p>
          <a:p>
            <a:pPr>
              <a:defRPr sz="2000"/>
            </a:pPr>
            <a:r>
              <a:t>3. Domain Gap: Human genome pre-training doesn't translate perfectly to viruses.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Decoupled production deployment module.</a:t>
            </a:r>
          </a:p>
          <a:p>
            <a:pPr>
              <a:defRPr sz="2000"/>
            </a:pPr>
            <a:r>
              <a:t>Automatically loads the highest-performing architecture (BiLSTM).</a:t>
            </a:r>
          </a:p>
          <a:p>
            <a:pPr>
              <a:defRPr sz="2000"/>
            </a:pPr>
            <a:r>
              <a:t>Ready for real-time FASTA inference.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Conclusion: Alignment-free Deep Learning (BiLSTM) handles viral genomic imbalances far better than CNNs, achieving 94.73% accuracy.</a:t>
            </a:r>
          </a:p>
          <a:p>
            <a:pPr>
              <a:defRPr sz="2000"/>
            </a:pPr>
            <a:r>
              <a:t>Future Work: Expand to Circulating Recombinant Forms (CRFs) and launch via FastAPI.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