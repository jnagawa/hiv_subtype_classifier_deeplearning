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Learning for HIV-1 Subtype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BiLSTM and Focal Loss Approach on unaligned pol Gene Sequences</a:t>
            </a:r>
          </a:p>
          <a:p>
            <a:r>
              <a:t>MSB7216: Deep Learning for Health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Abstract &amp;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Background: HIV-1 subtyping is essential for guiding antiretroviral therapy and tracking epidemiological spread.</a:t>
            </a:r>
          </a:p>
          <a:p>
            <a:pPr>
              <a:defRPr sz="2000"/>
            </a:pPr>
            <a:r>
              <a:t>Previous Work: Existing tools heavily rely on computationally expensive Multiple Sequence Alignment (MSA) or k-mer counting.</a:t>
            </a:r>
          </a:p>
          <a:p>
            <a:pPr>
              <a:defRPr sz="2000"/>
            </a:pPr>
            <a:r>
              <a:t>Problem Statement: MSA struggles with hypermutations, and genomic databases suffer from severe geographical class imbalance.</a:t>
            </a:r>
          </a:p>
          <a:p>
            <a:pPr>
              <a:defRPr sz="2000"/>
            </a:pPr>
            <a:r>
              <a:t>Objective: To develop an automated, alignment-free Deep Learning classifier to categorize raw nucleotide sequences into Subtypes A, B, C, and D.</a:t>
            </a:r>
          </a:p>
          <a:p>
            <a:pPr>
              <a:defRPr sz="2000"/>
            </a:pPr>
            <a:r>
              <a:t>Significance: Eliminating the MSA bottleneck enables faster, more scalable, and highly accurate subtyping for clinical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Dataset &amp; Geographical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Data sourced from Los Alamos National Laboratory (LANL).</a:t>
            </a:r>
          </a:p>
          <a:p>
            <a:pPr>
              <a:defRPr sz="1400"/>
            </a:pPr>
            <a:r>
              <a:t>Severe Bias: Subtype B dominates North America &amp; Europe (52.2% of data).</a:t>
            </a:r>
          </a:p>
          <a:p>
            <a:pPr>
              <a:defRPr sz="1400"/>
            </a:pPr>
            <a:r>
              <a:t>Sequence Length Variability: Shown in the plot, padded to 3000bp.</a:t>
            </a:r>
          </a:p>
        </p:txBody>
      </p:sp>
      <p:pic>
        <p:nvPicPr>
          <p:cNvPr id="4" name="Picture 3" descr="sequence_leng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24989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Processing &amp; Encoding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Alignment gaps ('-') completely stripped.</a:t>
            </a:r>
          </a:p>
          <a:p>
            <a:pPr>
              <a:defRPr sz="1400"/>
            </a:pPr>
            <a:r>
              <a:t>1. One-Hot Encoding: Used for MLP and 1D-CNN.</a:t>
            </a:r>
          </a:p>
          <a:p>
            <a:pPr>
              <a:defRPr sz="1400"/>
            </a:pPr>
            <a:r>
              <a:t>2. Label Embedding: Integers used for BiLSTM inputs.</a:t>
            </a:r>
          </a:p>
        </p:txBody>
      </p:sp>
      <p:pic>
        <p:nvPicPr>
          <p:cNvPr id="4" name="Picture 3" descr="subtyp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17666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Class Balancing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Standard categorical cross-entropy caused precision degradation.</a:t>
            </a:r>
          </a:p>
          <a:p>
            <a:pPr>
              <a:defRPr sz="2000"/>
            </a:pPr>
            <a:r>
              <a:t>Implemented pure Focal Loss (Gamma=2.0).</a:t>
            </a:r>
          </a:p>
          <a:p>
            <a:pPr>
              <a:defRPr sz="2000"/>
            </a:pPr>
            <a:r>
              <a:t>Forces the gradient to focus heavily on hard-to-predict minority strains (A, C, 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Baseline MLP (73.8k Params): GlobalAvgPool -&gt; Dense(16) -&gt; Classifier.</a:t>
            </a:r>
          </a:p>
          <a:p>
            <a:pPr>
              <a:defRPr sz="2000"/>
            </a:pPr>
            <a:r>
              <a:t>2. 1D-CNN (200k Params): 4 Conv1D layers (filters: 32 to 128) alternating with MaxPool &amp; Dropout (0.5).</a:t>
            </a:r>
          </a:p>
          <a:p>
            <a:pPr>
              <a:defRPr sz="2000"/>
            </a:pPr>
            <a:r>
              <a:t>3. BiLSTM (2.1M Params): 128-dim Embedding -&gt; 2-layer Bidirectional LSTM (256 hidden) -&gt; Dense(128).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Transfer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Exploratory phase utilizing DNABERT.</a:t>
            </a:r>
          </a:p>
          <a:p>
            <a:pPr>
              <a:defRPr sz="1400"/>
            </a:pPr>
            <a:r>
              <a:t>Pre-trained on the human genome via Masked Language Modeling.</a:t>
            </a:r>
          </a:p>
          <a:p>
            <a:pPr>
              <a:defRPr sz="1400"/>
            </a:pPr>
            <a:r>
              <a:t>Classification head fine-tuned to test cross-domain transfer learning to viral genomes.</a:t>
            </a:r>
          </a:p>
        </p:txBody>
      </p:sp>
      <p:pic>
        <p:nvPicPr>
          <p:cNvPr id="4" name="Picture 3" descr="dnabert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Explainability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Universal Saliency Map using Input-Gradient Attention.</a:t>
            </a:r>
          </a:p>
          <a:p>
            <a:pPr>
              <a:defRPr sz="1400"/>
            </a:pPr>
            <a:r>
              <a:t>Highlights the exact nucleotide regions driving the BiLSTM's classifications.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Model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Test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F1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Baseline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0.6982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DNABERT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Confusion 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BiLSTM accurately maps minority classes.</a:t>
            </a:r>
          </a:p>
          <a:p>
            <a:pPr>
              <a:defRPr sz="1400"/>
            </a:pPr>
            <a:r>
              <a:t>CNN and DNABERT collapsed entirely (52.22% Subtype B baseline).</a:t>
            </a:r>
          </a:p>
        </p:txBody>
      </p:sp>
      <p:pic>
        <p:nvPicPr>
          <p:cNvPr id="4" name="Picture 3" descr="all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029200" cy="105278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ROC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The Receiver Operating Characteristic confirms the BiLSTM's high true positive rate across all four classes.</a:t>
            </a:r>
          </a:p>
        </p:txBody>
      </p:sp>
      <p:pic>
        <p:nvPicPr>
          <p:cNvPr id="4" name="Picture 3" descr="best_model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36415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Error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Causes: CNNs and DNABERT collapsed due to geographic imbalance.</a:t>
            </a:r>
          </a:p>
          <a:p>
            <a:pPr>
              <a:defRPr sz="2000"/>
            </a:pPr>
            <a:r>
              <a:t>Implications: Saliency Maps show BiLSTMs rely on conserved regions. When 'viral drift' mutates these domains, confidence drops.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Extreme Geographical Imbalance: Hard for spatial models (CNN) to overcome.</a:t>
            </a:r>
          </a:p>
          <a:p>
            <a:pPr>
              <a:defRPr sz="2000"/>
            </a:pPr>
            <a:r>
              <a:t>2. Computational Limits: VRAM restricted DNABERT's ability to learn 3000bp sequences.</a:t>
            </a:r>
          </a:p>
          <a:p>
            <a:pPr>
              <a:defRPr sz="2000"/>
            </a:pPr>
            <a:r>
              <a:t>3. Domain Gap: Human genome pre-training doesn't translate perfectly to viruses.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Decoupled production deployment module.</a:t>
            </a:r>
          </a:p>
          <a:p>
            <a:pPr>
              <a:defRPr sz="2000"/>
            </a:pPr>
            <a:r>
              <a:t>Automatically loads the highest-performing architecture (BiLSTM).</a:t>
            </a:r>
          </a:p>
          <a:p>
            <a:pPr>
              <a:defRPr sz="2000"/>
            </a:pPr>
            <a:r>
              <a:t>Ready for real-time FASTA inference.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Conclusion: Alignment-free Deep Learning (BiLSTM) handles viral genomic imbalances far better than CNNs, achieving 94.73% accuracy.</a:t>
            </a:r>
          </a:p>
          <a:p>
            <a:pPr>
              <a:defRPr sz="2000"/>
            </a:pPr>
            <a:r>
              <a:t>Future Work: Expand to Circulating Recombinant Forms (CRFs) and launch via FastAPI.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